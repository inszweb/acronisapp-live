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9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Barlow" panose="020F0502020204030204" pitchFamily="2" charset="0"/>
      <p:regular r:id="rId17"/>
      <p:bold r:id="rId18"/>
      <p:italic r:id="rId19"/>
      <p:boldItalic r:id="rId20"/>
    </p:embeddedFont>
    <p:embeddedFont>
      <p:font typeface="Barlow Bold" panose="020B0604020202020204" charset="0"/>
      <p:regular r:id="rId21"/>
      <p:bold r:id="rId22"/>
    </p:embeddedFont>
    <p:embeddedFont>
      <p:font typeface="Exo 2 1" panose="020B0604020202020204" charset="0"/>
      <p:regular r:id="rId23"/>
    </p:embeddedFont>
    <p:embeddedFont>
      <p:font typeface="Exo 2 1 Bold" panose="020B0604020202020204" charset="0"/>
      <p:regular r:id="rId24"/>
    </p:embeddedFont>
    <p:embeddedFont>
      <p:font typeface="Exo 2 2 Bold" panose="020B0604020202020204" charset="0"/>
      <p:regular r:id="rId25"/>
    </p:embeddedFont>
    <p:embeddedFont>
      <p:font typeface="League Spartan" panose="020B0604020202020204" charset="0"/>
      <p:regular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PT Sans" panose="020F0502020204030204" pitchFamily="34" charset="0"/>
      <p:regular r:id="rId31"/>
      <p:bold r:id="rId32"/>
      <p:italic r:id="rId33"/>
      <p:boldItalic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Relationship Id="rId25" Type="http://schemas.openxmlformats.org/officeDocument/2006/relationships/font" Target="fonts/font9.fntdata"/><Relationship Id="rId26" Type="http://schemas.openxmlformats.org/officeDocument/2006/relationships/font" Target="fonts/font10.fntdata"/><Relationship Id="rId27" Type="http://schemas.openxmlformats.org/officeDocument/2006/relationships/font" Target="fonts/font11.fntdata"/><Relationship Id="rId28" Type="http://schemas.openxmlformats.org/officeDocument/2006/relationships/font" Target="fonts/font12.fntdata"/><Relationship Id="rId29" Type="http://schemas.openxmlformats.org/officeDocument/2006/relationships/font" Target="fonts/font13.fntdata"/><Relationship Id="rId30" Type="http://schemas.openxmlformats.org/officeDocument/2006/relationships/font" Target="fonts/font14.fntdata"/><Relationship Id="rId31" Type="http://schemas.openxmlformats.org/officeDocument/2006/relationships/font" Target="fonts/font15.fntdata"/><Relationship Id="rId32" Type="http://schemas.openxmlformats.org/officeDocument/2006/relationships/font" Target="fonts/font16.fntdata"/><Relationship Id="rId33" Type="http://schemas.openxmlformats.org/officeDocument/2006/relationships/font" Target="fonts/font17.fntdata"/><Relationship Id="rId34" Type="http://schemas.openxmlformats.org/officeDocument/2006/relationships/font" Target="fonts/font18.fntdata"/><Relationship Id="rId35" Type="http://schemas.openxmlformats.org/officeDocument/2006/relationships/font" Target="fonts/font19.fntdata"/><Relationship Id="rId36" Type="http://schemas.openxmlformats.org/officeDocument/2006/relationships/font" Target="fonts/font20.fntdata"/><Relationship Id="rId37" Type="http://schemas.openxmlformats.org/officeDocument/2006/relationships/font" Target="fonts/font21.fntdata"/><Relationship Id="rId38" Type="http://schemas.openxmlformats.org/officeDocument/2006/relationships/font" Target="fonts/font22.fnt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hyperlink" Target="tel:+6561000848" TargetMode="External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hyperlink" Target="mailto:sales@insightz.tech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19.png"/><Relationship Id="rId9" Type="http://schemas.openxmlformats.org/officeDocument/2006/relationships/image" Target="../media/image20.svg"/><Relationship Id="rId10" Type="http://schemas.openxmlformats.org/officeDocument/2006/relationships/image" Target="../media/image21.png"/><Relationship Id="rId11" Type="http://schemas.openxmlformats.org/officeDocument/2006/relationships/image" Target="../media/image22.svg"/><Relationship Id="rId12" Type="http://schemas.openxmlformats.org/officeDocument/2006/relationships/image" Target="../media/image23.png"/><Relationship Id="rId13" Type="http://schemas.openxmlformats.org/officeDocument/2006/relationships/image" Target="../media/image24.svg"/><Relationship Id="rId14" Type="http://schemas.openxmlformats.org/officeDocument/2006/relationships/image" Target="../media/image1.png"/><Relationship Id="rId1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Relationship Id="rId4" Type="http://schemas.openxmlformats.org/officeDocument/2006/relationships/image" Target="../media/image26.svg"/><Relationship Id="rId5" Type="http://schemas.openxmlformats.org/officeDocument/2006/relationships/image" Target="../media/image27.png"/><Relationship Id="rId6" Type="http://schemas.openxmlformats.org/officeDocument/2006/relationships/image" Target="../media/image28.svg"/><Relationship Id="rId7" Type="http://schemas.openxmlformats.org/officeDocument/2006/relationships/image" Target="../media/image29.png"/><Relationship Id="rId8" Type="http://schemas.openxmlformats.org/officeDocument/2006/relationships/image" Target="../media/image30.svg"/><Relationship Id="rId9" Type="http://schemas.openxmlformats.org/officeDocument/2006/relationships/image" Target="../media/image31.png"/><Relationship Id="rId10" Type="http://schemas.openxmlformats.org/officeDocument/2006/relationships/image" Target="../media/image32.svg"/><Relationship Id="rId11" Type="http://schemas.openxmlformats.org/officeDocument/2006/relationships/image" Target="../media/image33.png"/><Relationship Id="rId12" Type="http://schemas.openxmlformats.org/officeDocument/2006/relationships/image" Target="../media/image34.svg"/><Relationship Id="rId1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Relationship Id="rId4" Type="http://schemas.openxmlformats.org/officeDocument/2006/relationships/image" Target="../media/image36.sv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svg"/><Relationship Id="rId8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hyperlink" Target="tel:+6561000848" TargetMode="External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hyperlink" Target="mailto:sales@insightz.te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397280" cy="5101572"/>
          </a:xfrm>
          <a:custGeom>
            <a:avLst/>
            <a:gdLst/>
            <a:ahLst/>
            <a:cxnLst/>
            <a:rect l="l" t="t" r="r" b="b"/>
            <a:pathLst>
              <a:path w="7397280" h="5101572">
                <a:moveTo>
                  <a:pt x="0" y="0"/>
                </a:moveTo>
                <a:lnTo>
                  <a:pt x="7397280" y="0"/>
                </a:lnTo>
                <a:lnTo>
                  <a:pt x="7397280" y="5101572"/>
                </a:lnTo>
                <a:lnTo>
                  <a:pt x="0" y="510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447146" y="9145103"/>
            <a:ext cx="2398307" cy="856534"/>
            <a:chOff x="0" y="0"/>
            <a:chExt cx="3197743" cy="114204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667927"/>
              <a:ext cx="248170" cy="248170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F6FC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43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51773" y="718141"/>
              <a:ext cx="147741" cy="147741"/>
            </a:xfrm>
            <a:custGeom>
              <a:avLst/>
              <a:gdLst/>
              <a:ahLst/>
              <a:cxnLst/>
              <a:rect l="l" t="t" r="r" b="b"/>
              <a:pathLst>
                <a:path w="147741" h="147741">
                  <a:moveTo>
                    <a:pt x="0" y="0"/>
                  </a:moveTo>
                  <a:lnTo>
                    <a:pt x="147741" y="0"/>
                  </a:lnTo>
                  <a:lnTo>
                    <a:pt x="147741" y="147741"/>
                  </a:lnTo>
                  <a:lnTo>
                    <a:pt x="0" y="147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8170" y="639352"/>
              <a:ext cx="2924208" cy="502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5"/>
                </a:lnSpc>
              </a:pPr>
              <a:r>
                <a:rPr lang="en-US" sz="1089">
                  <a:solidFill>
                    <a:srgbClr val="FFFFFF">
                      <a:alpha val="70980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https//insightztechnology.com</a:t>
              </a:r>
            </a:p>
            <a:p>
              <a:pPr algn="ctr">
                <a:lnSpc>
                  <a:spcPts val="1525"/>
                </a:lnSpc>
              </a:pPr>
              <a:endParaRPr lang="en-US" sz="1089">
                <a:solidFill>
                  <a:srgbClr val="FFFFFF">
                    <a:alpha val="70980"/>
                  </a:srgbClr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282005" y="0"/>
              <a:ext cx="253262" cy="253262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F6FC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7050" tIns="7050" rIns="7050" bIns="7050" rtlCol="0" anchor="ctr"/>
              <a:lstStyle/>
              <a:p>
                <a:pPr algn="ctr">
                  <a:lnSpc>
                    <a:spcPts val="164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327801" y="45796"/>
              <a:ext cx="161671" cy="161671"/>
            </a:xfrm>
            <a:custGeom>
              <a:avLst/>
              <a:gdLst/>
              <a:ahLst/>
              <a:cxnLst/>
              <a:rect l="l" t="t" r="r" b="b"/>
              <a:pathLst>
                <a:path w="161671" h="161671">
                  <a:moveTo>
                    <a:pt x="0" y="0"/>
                  </a:moveTo>
                  <a:lnTo>
                    <a:pt x="161671" y="0"/>
                  </a:lnTo>
                  <a:lnTo>
                    <a:pt x="161671" y="161670"/>
                  </a:lnTo>
                  <a:lnTo>
                    <a:pt x="0" y="161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85920" y="-12372"/>
              <a:ext cx="1373933" cy="247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5"/>
                </a:lnSpc>
              </a:pPr>
              <a:r>
                <a:rPr lang="en-US" sz="1089" u="sng">
                  <a:solidFill>
                    <a:srgbClr val="FFFFFF">
                      <a:alpha val="77647"/>
                    </a:srgbClr>
                  </a:solidFill>
                  <a:latin typeface="Roboto"/>
                  <a:ea typeface="Roboto"/>
                  <a:cs typeface="Roboto"/>
                  <a:sym typeface="Roboto"/>
                  <a:hlinkClick r:id="rId8" tooltip="tel:+6561000848"/>
                </a:rPr>
                <a:t>+65 61000 848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897448" y="327787"/>
              <a:ext cx="265616" cy="265616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F6FC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6172" tIns="6172" rIns="6172" bIns="6172" rtlCol="0" anchor="ctr"/>
              <a:lstStyle/>
              <a:p>
                <a:pPr algn="ctr">
                  <a:lnSpc>
                    <a:spcPts val="1643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947388" y="411868"/>
              <a:ext cx="165735" cy="111457"/>
            </a:xfrm>
            <a:custGeom>
              <a:avLst/>
              <a:gdLst/>
              <a:ahLst/>
              <a:cxnLst/>
              <a:rect l="l" t="t" r="r" b="b"/>
              <a:pathLst>
                <a:path w="165735" h="111457">
                  <a:moveTo>
                    <a:pt x="0" y="0"/>
                  </a:moveTo>
                  <a:lnTo>
                    <a:pt x="165735" y="0"/>
                  </a:lnTo>
                  <a:lnTo>
                    <a:pt x="165735" y="111456"/>
                  </a:lnTo>
                  <a:lnTo>
                    <a:pt x="0" y="111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0256" y="299212"/>
              <a:ext cx="2167487" cy="247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5"/>
                </a:lnSpc>
              </a:pPr>
              <a:r>
                <a:rPr lang="en-US" sz="1089" u="sng">
                  <a:solidFill>
                    <a:srgbClr val="FFFFFF">
                      <a:alpha val="81961"/>
                    </a:srgbClr>
                  </a:solidFill>
                  <a:latin typeface="Roboto"/>
                  <a:ea typeface="Roboto"/>
                  <a:cs typeface="Roboto"/>
                  <a:sym typeface="Roboto"/>
                  <a:hlinkClick r:id="rId11" tooltip="mailto:sales@insightz.tech"/>
                </a:rPr>
                <a:t>sales@insightz.tech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272191" y="5124450"/>
            <a:ext cx="715378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Box 22"/>
          <p:cNvSpPr txBox="1"/>
          <p:nvPr/>
        </p:nvSpPr>
        <p:spPr>
          <a:xfrm>
            <a:off x="1378492" y="5338176"/>
            <a:ext cx="9882594" cy="45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698" spc="84">
                <a:solidFill>
                  <a:srgbClr val="F4F6FC"/>
                </a:solidFill>
                <a:latin typeface="Exo 2 1"/>
                <a:ea typeface="Exo 2 1"/>
                <a:cs typeface="Exo 2 1"/>
                <a:sym typeface="Exo 2 1"/>
              </a:rPr>
              <a:t>www.insightz.tech</a:t>
            </a:r>
          </a:p>
          <a:p>
            <a:pPr algn="l">
              <a:lnSpc>
                <a:spcPts val="1749"/>
              </a:lnSpc>
            </a:pPr>
            <a:r>
              <a:rPr lang="en-US" sz="1698" spc="84">
                <a:solidFill>
                  <a:srgbClr val="F4F6FC"/>
                </a:solidFill>
                <a:latin typeface="Exo 2 1"/>
                <a:ea typeface="Exo 2 1"/>
                <a:cs typeface="Exo 2 1"/>
                <a:sym typeface="Exo 2 1"/>
              </a:rPr>
              <a:t>ca@insightz.tech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6172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C:\disk\di(1)\acronisapp-live\uploads\kickoff_9.pptx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6172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C:\disk\di(1)\acronisapp-live\uploads\kickoff_undefined.pptx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172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C:\disk\di(1)\acronisapp-live\uploads\kickoff_12.pptx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765859"/>
            <a:ext cx="9123484" cy="94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7"/>
              </a:lnSpc>
            </a:pPr>
            <a:r>
              <a:rPr lang="en-US" sz="6988" spc="3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067300"/>
            <a:ext cx="15149553" cy="3826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8651" lvl="1" indent="-429326" algn="l">
              <a:lnSpc>
                <a:spcPts val="5567"/>
              </a:lnSpc>
              <a:buFont typeface="Arial"/>
              <a:buChar char="•"/>
            </a:pPr>
            <a:r>
              <a:rPr lang="en-US" sz="3977" spc="7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Introduce Insightz​</a:t>
            </a:r>
          </a:p>
          <a:p>
            <a:pPr marL="858651" lvl="1" indent="-429326" algn="l">
              <a:lnSpc>
                <a:spcPts val="5567"/>
              </a:lnSpc>
              <a:buFont typeface="Arial"/>
              <a:buChar char="•"/>
            </a:pPr>
            <a:r>
              <a:rPr lang="en-US" sz="3977" spc="7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Align teams on MDR Capabilities​</a:t>
            </a:r>
          </a:p>
          <a:p>
            <a:pPr marL="858651" lvl="1" indent="-429326" algn="l">
              <a:lnSpc>
                <a:spcPts val="5567"/>
              </a:lnSpc>
              <a:buFont typeface="Arial"/>
              <a:buChar char="•"/>
            </a:pPr>
            <a:r>
              <a:rPr lang="en-US" sz="3977" spc="7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Define Roles, Responsibilities and Expectations​</a:t>
            </a:r>
          </a:p>
          <a:p>
            <a:pPr marL="858651" lvl="1" indent="-429326" algn="l">
              <a:lnSpc>
                <a:spcPts val="5567"/>
              </a:lnSpc>
              <a:buFont typeface="Arial"/>
              <a:buChar char="•"/>
            </a:pPr>
            <a:r>
              <a:rPr lang="en-US" sz="3977" spc="7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Outline next steps</a:t>
            </a:r>
          </a:p>
          <a:p>
            <a:pPr algn="l">
              <a:lnSpc>
                <a:spcPts val="8346"/>
              </a:lnSpc>
            </a:pPr>
            <a:endParaRPr lang="en-US" sz="3977" spc="79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259386" y="192948"/>
            <a:ext cx="1751639" cy="1208027"/>
          </a:xfrm>
          <a:custGeom>
            <a:avLst/>
            <a:gdLst/>
            <a:ahLst/>
            <a:cxnLst/>
            <a:rect l="l" t="t" r="r" b="b"/>
            <a:pathLst>
              <a:path w="1751639" h="1208027">
                <a:moveTo>
                  <a:pt x="0" y="0"/>
                </a:moveTo>
                <a:lnTo>
                  <a:pt x="1751638" y="0"/>
                </a:lnTo>
                <a:lnTo>
                  <a:pt x="1751638" y="1208027"/>
                </a:lnTo>
                <a:lnTo>
                  <a:pt x="0" y="1208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AutoShape 7"/>
          <p:cNvSpPr/>
          <p:nvPr/>
        </p:nvSpPr>
        <p:spPr>
          <a:xfrm>
            <a:off x="1135205" y="4805045"/>
            <a:ext cx="9113883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684636"/>
            <a:ext cx="9123484" cy="844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3"/>
              </a:lnSpc>
            </a:pPr>
            <a:r>
              <a:rPr lang="en-US" sz="6188" spc="30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MISSION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76817"/>
            <a:ext cx="14390426" cy="2945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3"/>
              </a:lnSpc>
            </a:pPr>
            <a:r>
              <a:rPr lang="en-US" sz="2624" spc="5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At Insightz Technology, we believe security should be simple. Our mission is to provide top-tier cybersecurity solutions that eliminate unnecessary costs and complexity.</a:t>
            </a:r>
          </a:p>
          <a:p>
            <a:pPr algn="l">
              <a:lnSpc>
                <a:spcPts val="3673"/>
              </a:lnSpc>
            </a:pPr>
            <a:endParaRPr lang="en-US" sz="2624" spc="52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3673"/>
              </a:lnSpc>
            </a:pPr>
            <a:r>
              <a:rPr lang="en-US" sz="2624" spc="5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By staying ahead of industry trends, we deliver AI-driven security tailored to each business’s unique needs to ensure the most effective and adaptive protection. </a:t>
            </a:r>
          </a:p>
          <a:p>
            <a:pPr algn="l">
              <a:lnSpc>
                <a:spcPts val="5507"/>
              </a:lnSpc>
            </a:pPr>
            <a:endParaRPr lang="en-US" sz="2624" spc="52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5687725"/>
            <a:ext cx="9123484" cy="844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3"/>
              </a:lnSpc>
            </a:pPr>
            <a:r>
              <a:rPr lang="en-US" sz="6188" spc="30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713071"/>
            <a:ext cx="14390426" cy="340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3"/>
              </a:lnSpc>
            </a:pPr>
            <a:r>
              <a:rPr lang="en-US" sz="2624" spc="5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Our vision is to make cybersecurity accessible to all organizations regardless of size or resources. </a:t>
            </a:r>
          </a:p>
          <a:p>
            <a:pPr algn="l">
              <a:lnSpc>
                <a:spcPts val="3673"/>
              </a:lnSpc>
            </a:pPr>
            <a:endParaRPr lang="en-US" sz="2624" spc="52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3673"/>
              </a:lnSpc>
            </a:pPr>
            <a:r>
              <a:rPr lang="en-US" sz="2624" spc="5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We strive to deliver comprehensive, affordable protection with instant deployment and a seamlessly intuitive interface. We eliminate complexity while tailoring security to each business’s unique needs.</a:t>
            </a:r>
          </a:p>
          <a:p>
            <a:pPr algn="l">
              <a:lnSpc>
                <a:spcPts val="5507"/>
              </a:lnSpc>
            </a:pPr>
            <a:endParaRPr lang="en-US" sz="2624" spc="52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259386" y="192948"/>
            <a:ext cx="1751639" cy="1208027"/>
          </a:xfrm>
          <a:custGeom>
            <a:avLst/>
            <a:gdLst/>
            <a:ahLst/>
            <a:cxnLst/>
            <a:rect l="l" t="t" r="r" b="b"/>
            <a:pathLst>
              <a:path w="1751639" h="1208027">
                <a:moveTo>
                  <a:pt x="0" y="0"/>
                </a:moveTo>
                <a:lnTo>
                  <a:pt x="1751638" y="0"/>
                </a:lnTo>
                <a:lnTo>
                  <a:pt x="1751638" y="1208027"/>
                </a:lnTo>
                <a:lnTo>
                  <a:pt x="0" y="1208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AutoShape 3"/>
          <p:cNvSpPr/>
          <p:nvPr/>
        </p:nvSpPr>
        <p:spPr>
          <a:xfrm>
            <a:off x="1028700" y="2793499"/>
            <a:ext cx="715378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9848870" y="3122285"/>
            <a:ext cx="2990820" cy="5564315"/>
          </a:xfrm>
          <a:custGeom>
            <a:avLst/>
            <a:gdLst/>
            <a:ahLst/>
            <a:cxnLst/>
            <a:rect l="l" t="t" r="r" b="b"/>
            <a:pathLst>
              <a:path w="2990820" h="5564315">
                <a:moveTo>
                  <a:pt x="0" y="0"/>
                </a:moveTo>
                <a:lnTo>
                  <a:pt x="2990819" y="0"/>
                </a:lnTo>
                <a:lnTo>
                  <a:pt x="2990819" y="5564315"/>
                </a:lnTo>
                <a:lnTo>
                  <a:pt x="0" y="5564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TextBox 5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143000"/>
            <a:ext cx="9123484" cy="1650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3"/>
              </a:lnSpc>
            </a:pPr>
            <a:r>
              <a:rPr lang="en-US" sz="6188" spc="30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MEET THE FOUNDERS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2491" y="9029910"/>
            <a:ext cx="5520460" cy="32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422" spc="12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LIONEL LOH</a:t>
            </a:r>
          </a:p>
        </p:txBody>
      </p:sp>
      <p:sp>
        <p:nvSpPr>
          <p:cNvPr id="8" name="Freeform 8"/>
          <p:cNvSpPr/>
          <p:nvPr/>
        </p:nvSpPr>
        <p:spPr>
          <a:xfrm>
            <a:off x="1117477" y="3122285"/>
            <a:ext cx="3000051" cy="5741724"/>
          </a:xfrm>
          <a:custGeom>
            <a:avLst/>
            <a:gdLst/>
            <a:ahLst/>
            <a:cxnLst/>
            <a:rect l="l" t="t" r="r" b="b"/>
            <a:pathLst>
              <a:path w="3000051" h="5741724">
                <a:moveTo>
                  <a:pt x="0" y="0"/>
                </a:moveTo>
                <a:lnTo>
                  <a:pt x="3000051" y="0"/>
                </a:lnTo>
                <a:lnTo>
                  <a:pt x="3000051" y="5741724"/>
                </a:lnTo>
                <a:lnTo>
                  <a:pt x="0" y="57417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TextBox 9"/>
          <p:cNvSpPr txBox="1"/>
          <p:nvPr/>
        </p:nvSpPr>
        <p:spPr>
          <a:xfrm>
            <a:off x="1202491" y="9445983"/>
            <a:ext cx="5520460" cy="215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0"/>
              </a:lnSpc>
            </a:pPr>
            <a:r>
              <a:rPr lang="en-US" sz="1641" spc="8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FOUNDER | CEO | DIRECTOR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48870" y="8907237"/>
            <a:ext cx="5349888" cy="3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2348" spc="11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THIRU PITCHAI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48870" y="9251475"/>
            <a:ext cx="5349888" cy="40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590" spc="7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CO-FOUNDER (INZ XDR 2.0 PLATFORM | CTO | DPO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20979" y="4174038"/>
            <a:ext cx="4180578" cy="419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6" spc="4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Over 20 years of experience in vendors’ relations​</a:t>
            </a:r>
          </a:p>
          <a:p>
            <a:pPr algn="l">
              <a:lnSpc>
                <a:spcPts val="3215"/>
              </a:lnSpc>
            </a:pPr>
            <a:endParaRPr lang="en-US" sz="2296" spc="45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3215"/>
              </a:lnSpc>
            </a:pPr>
            <a:r>
              <a:rPr lang="en-US" sz="2296" spc="4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Deep understanding of the intricacies of the cybersecurity landscape</a:t>
            </a:r>
          </a:p>
          <a:p>
            <a:pPr algn="l">
              <a:lnSpc>
                <a:spcPts val="3215"/>
              </a:lnSpc>
            </a:pPr>
            <a:endParaRPr lang="en-US" sz="2296" spc="45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3215"/>
              </a:lnSpc>
            </a:pPr>
            <a:r>
              <a:rPr lang="en-US" sz="2296" spc="4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Pivotal roles at 3COM, HPE and Ingram Micro.​</a:t>
            </a:r>
          </a:p>
          <a:p>
            <a:pPr algn="l">
              <a:lnSpc>
                <a:spcPts val="4820"/>
              </a:lnSpc>
            </a:pPr>
            <a:endParaRPr lang="en-US" sz="2296" spc="45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80824" y="3773845"/>
            <a:ext cx="4180578" cy="4995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6" spc="4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Over 20 years of IT infra and security consultancy knowledge and experience.​</a:t>
            </a:r>
          </a:p>
          <a:p>
            <a:pPr algn="l">
              <a:lnSpc>
                <a:spcPts val="3215"/>
              </a:lnSpc>
            </a:pPr>
            <a:endParaRPr lang="en-US" sz="2296" spc="45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3215"/>
              </a:lnSpc>
            </a:pPr>
            <a:r>
              <a:rPr lang="en-US" sz="2296" spc="4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Seasoned expert in cybersecurity analytics. ​</a:t>
            </a:r>
          </a:p>
          <a:p>
            <a:pPr algn="l">
              <a:lnSpc>
                <a:spcPts val="3215"/>
              </a:lnSpc>
            </a:pPr>
            <a:endParaRPr lang="en-US" sz="2296" spc="45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3215"/>
              </a:lnSpc>
            </a:pPr>
            <a:r>
              <a:rPr lang="en-US" sz="2296" spc="4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Extensive knowledge and leadership skills make him an invaluable asset to the company and its clients.​</a:t>
            </a:r>
          </a:p>
          <a:p>
            <a:pPr algn="l">
              <a:lnSpc>
                <a:spcPts val="4820"/>
              </a:lnSpc>
            </a:pPr>
            <a:endParaRPr lang="en-US" sz="2296" spc="45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13095" y="102998"/>
            <a:ext cx="1342267" cy="925702"/>
          </a:xfrm>
          <a:custGeom>
            <a:avLst/>
            <a:gdLst/>
            <a:ahLst/>
            <a:cxnLst/>
            <a:rect l="l" t="t" r="r" b="b"/>
            <a:pathLst>
              <a:path w="1342267" h="925702">
                <a:moveTo>
                  <a:pt x="0" y="0"/>
                </a:moveTo>
                <a:lnTo>
                  <a:pt x="1342268" y="0"/>
                </a:lnTo>
                <a:lnTo>
                  <a:pt x="1342268" y="925702"/>
                </a:lnTo>
                <a:lnTo>
                  <a:pt x="0" y="9257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20585" y="1216121"/>
            <a:ext cx="9144000" cy="1068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4052" spc="20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ACRONIS PARTNERSHIP WITH INSIGHTZ TECHNOLOGY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6402" y="3169345"/>
            <a:ext cx="14094975" cy="95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422" b="1" spc="121">
                <a:solidFill>
                  <a:srgbClr val="EC7803"/>
                </a:solidFill>
                <a:latin typeface="Barlow Bold"/>
                <a:ea typeface="Barlow Bold"/>
                <a:cs typeface="Barlow Bold"/>
                <a:sym typeface="Barlow Bold"/>
              </a:rPr>
              <a:t>INSIGHTZ TECHNOLOGY IS AN INTERNATIONAL CYBERSECURITY COMPANY​</a:t>
            </a:r>
          </a:p>
          <a:p>
            <a:pPr algn="l">
              <a:lnSpc>
                <a:spcPts val="2495"/>
              </a:lnSpc>
            </a:pPr>
            <a:r>
              <a:rPr lang="en-US" sz="2422" b="1" spc="121">
                <a:solidFill>
                  <a:srgbClr val="EC7803"/>
                </a:solidFill>
                <a:latin typeface="Barlow Bold"/>
                <a:ea typeface="Barlow Bold"/>
                <a:cs typeface="Barlow Bold"/>
                <a:sym typeface="Barlow Bold"/>
              </a:rPr>
              <a:t>SPECIALIZING IN EARLY DETECT AND RESPONSE MONITORING​</a:t>
            </a:r>
          </a:p>
          <a:p>
            <a:pPr algn="l">
              <a:lnSpc>
                <a:spcPts val="2495"/>
              </a:lnSpc>
            </a:pPr>
            <a:endParaRPr lang="en-US" sz="2422" b="1" spc="121">
              <a:solidFill>
                <a:srgbClr val="EC7803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26402" y="4069382"/>
            <a:ext cx="13358765" cy="5983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330" lvl="1" indent="-318165" algn="l">
              <a:lnSpc>
                <a:spcPts val="4126"/>
              </a:lnSpc>
              <a:buFont typeface="Arial"/>
              <a:buChar char="•"/>
            </a:pPr>
            <a:r>
              <a:rPr lang="en-US" sz="2947" spc="58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10+ year proven track record in the industry​</a:t>
            </a:r>
          </a:p>
          <a:p>
            <a:pPr marL="636330" lvl="1" indent="-318165" algn="l">
              <a:lnSpc>
                <a:spcPts val="4126"/>
              </a:lnSpc>
              <a:buFont typeface="Arial"/>
              <a:buChar char="•"/>
            </a:pPr>
            <a:r>
              <a:rPr lang="en-US" sz="2947" spc="58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24x7x365 ISO27001 compliant SOC​</a:t>
            </a:r>
          </a:p>
          <a:p>
            <a:pPr marL="636330" lvl="1" indent="-318165" algn="l">
              <a:lnSpc>
                <a:spcPts val="4126"/>
              </a:lnSpc>
              <a:buFont typeface="Arial"/>
              <a:buChar char="•"/>
            </a:pPr>
            <a:r>
              <a:rPr lang="en-US" sz="2947" spc="58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Insightz has built and maintains IT security solutions forsome of the world’s largest private and public organizations(Managed SIEM, DLP, EDR, PAM, IR, etc.)​</a:t>
            </a:r>
          </a:p>
          <a:p>
            <a:pPr marL="636330" lvl="1" indent="-318165" algn="l">
              <a:lnSpc>
                <a:spcPts val="4126"/>
              </a:lnSpc>
              <a:buFont typeface="Arial"/>
              <a:buChar char="•"/>
            </a:pPr>
            <a:r>
              <a:rPr lang="en-US" sz="2947" spc="58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50+ employees, incl. IT advisory, managed services,development and engineering​</a:t>
            </a:r>
          </a:p>
          <a:p>
            <a:pPr marL="636330" lvl="1" indent="-318165" algn="l">
              <a:lnSpc>
                <a:spcPts val="4126"/>
              </a:lnSpc>
              <a:buFont typeface="Arial"/>
              <a:buChar char="•"/>
            </a:pPr>
            <a:r>
              <a:rPr lang="en-US" sz="2947" spc="58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Insightz enhance Acronis EDR telemetry with proprietarySIEM and SOAR systems for additional analysis​</a:t>
            </a:r>
          </a:p>
          <a:p>
            <a:pPr marL="636330" lvl="1" indent="-318165" algn="l">
              <a:lnSpc>
                <a:spcPts val="4126"/>
              </a:lnSpc>
              <a:buFont typeface="Arial"/>
              <a:buChar char="•"/>
            </a:pPr>
            <a:r>
              <a:rPr lang="en-US" sz="2947" spc="58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Based in Singapore with regional office in India andPhilippines.​</a:t>
            </a:r>
          </a:p>
          <a:p>
            <a:pPr algn="l">
              <a:lnSpc>
                <a:spcPts val="6185"/>
              </a:lnSpc>
            </a:pPr>
            <a:endParaRPr lang="en-US" sz="2947" spc="58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49668" y="192948"/>
            <a:ext cx="1211840" cy="835752"/>
          </a:xfrm>
          <a:custGeom>
            <a:avLst/>
            <a:gdLst/>
            <a:ahLst/>
            <a:cxnLst/>
            <a:rect l="l" t="t" r="r" b="b"/>
            <a:pathLst>
              <a:path w="1211840" h="835752">
                <a:moveTo>
                  <a:pt x="0" y="0"/>
                </a:moveTo>
                <a:lnTo>
                  <a:pt x="1211840" y="0"/>
                </a:lnTo>
                <a:lnTo>
                  <a:pt x="1211840" y="835752"/>
                </a:lnTo>
                <a:lnTo>
                  <a:pt x="0" y="835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7" name="Group 7"/>
          <p:cNvGrpSpPr/>
          <p:nvPr/>
        </p:nvGrpSpPr>
        <p:grpSpPr>
          <a:xfrm>
            <a:off x="420585" y="2405656"/>
            <a:ext cx="2183899" cy="484097"/>
            <a:chOff x="0" y="0"/>
            <a:chExt cx="2911865" cy="64546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32255" cy="645462"/>
            </a:xfrm>
            <a:custGeom>
              <a:avLst/>
              <a:gdLst/>
              <a:ahLst/>
              <a:cxnLst/>
              <a:rect l="l" t="t" r="r" b="b"/>
              <a:pathLst>
                <a:path w="1232255" h="645462">
                  <a:moveTo>
                    <a:pt x="0" y="0"/>
                  </a:moveTo>
                  <a:lnTo>
                    <a:pt x="1232255" y="0"/>
                  </a:lnTo>
                  <a:lnTo>
                    <a:pt x="1232255" y="645462"/>
                  </a:lnTo>
                  <a:lnTo>
                    <a:pt x="0" y="645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450" r="-469" b="-18830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/>
            <p:cNvSpPr/>
            <p:nvPr/>
          </p:nvSpPr>
          <p:spPr>
            <a:xfrm>
              <a:off x="1345751" y="250586"/>
              <a:ext cx="144291" cy="144291"/>
            </a:xfrm>
            <a:custGeom>
              <a:avLst/>
              <a:gdLst/>
              <a:ahLst/>
              <a:cxnLst/>
              <a:rect l="l" t="t" r="r" b="b"/>
              <a:pathLst>
                <a:path w="144291" h="144291">
                  <a:moveTo>
                    <a:pt x="0" y="0"/>
                  </a:moveTo>
                  <a:lnTo>
                    <a:pt x="144291" y="0"/>
                  </a:lnTo>
                  <a:lnTo>
                    <a:pt x="144291" y="144291"/>
                  </a:lnTo>
                  <a:lnTo>
                    <a:pt x="0" y="144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723747" y="82103"/>
              <a:ext cx="1188117" cy="487284"/>
            </a:xfrm>
            <a:custGeom>
              <a:avLst/>
              <a:gdLst/>
              <a:ahLst/>
              <a:cxnLst/>
              <a:rect l="l" t="t" r="r" b="b"/>
              <a:pathLst>
                <a:path w="1188117" h="487284">
                  <a:moveTo>
                    <a:pt x="0" y="0"/>
                  </a:moveTo>
                  <a:lnTo>
                    <a:pt x="1188118" y="0"/>
                  </a:lnTo>
                  <a:lnTo>
                    <a:pt x="1188118" y="487284"/>
                  </a:lnTo>
                  <a:lnTo>
                    <a:pt x="0" y="487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951" t="-61365" r="-14569" b="-47414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" name="Freeform 11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AutoShape 3"/>
          <p:cNvSpPr/>
          <p:nvPr/>
        </p:nvSpPr>
        <p:spPr>
          <a:xfrm>
            <a:off x="755588" y="4296140"/>
            <a:ext cx="9113883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5588" y="2378198"/>
            <a:ext cx="9435151" cy="1735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6"/>
              </a:lnSpc>
            </a:pPr>
            <a:r>
              <a:rPr lang="en-US" sz="6569" spc="32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THIS SERVICE DELIVERS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588" y="4726064"/>
            <a:ext cx="17956911" cy="417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3086" spc="154">
                <a:solidFill>
                  <a:srgbClr val="EC780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CUSTOMER-FOCUSED, NOT TECHNICAL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7366" y="4827903"/>
            <a:ext cx="13358765" cy="4484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6"/>
              </a:lnSpc>
            </a:pPr>
            <a:endParaRPr/>
          </a:p>
          <a:p>
            <a:pPr marL="744277" lvl="1" indent="-372138" algn="l">
              <a:lnSpc>
                <a:spcPts val="4826"/>
              </a:lnSpc>
              <a:buFont typeface="Arial"/>
              <a:buChar char="•"/>
            </a:pPr>
            <a:r>
              <a:rPr lang="en-US" sz="3447" spc="68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24/7 security monitoring and threat detection</a:t>
            </a:r>
          </a:p>
          <a:p>
            <a:pPr marL="744277" lvl="1" indent="-372138" algn="l">
              <a:lnSpc>
                <a:spcPts val="4826"/>
              </a:lnSpc>
              <a:buFont typeface="Arial"/>
              <a:buChar char="•"/>
            </a:pPr>
            <a:r>
              <a:rPr lang="en-US" sz="3447" spc="68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Rapid investigation and response to security incidents</a:t>
            </a:r>
          </a:p>
          <a:p>
            <a:pPr marL="744277" lvl="1" indent="-372138" algn="l">
              <a:lnSpc>
                <a:spcPts val="4826"/>
              </a:lnSpc>
              <a:buFont typeface="Arial"/>
              <a:buChar char="•"/>
            </a:pPr>
            <a:r>
              <a:rPr lang="en-US" sz="3447" spc="68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Continuous protection against advanced cyber threats</a:t>
            </a:r>
          </a:p>
          <a:p>
            <a:pPr marL="744277" lvl="1" indent="-372138" algn="l">
              <a:lnSpc>
                <a:spcPts val="4826"/>
              </a:lnSpc>
              <a:buFont typeface="Arial"/>
              <a:buChar char="•"/>
            </a:pPr>
            <a:r>
              <a:rPr lang="en-US" sz="3447" spc="68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 dedicated security team that acts as an extension of your IT team</a:t>
            </a:r>
          </a:p>
          <a:p>
            <a:pPr algn="l">
              <a:lnSpc>
                <a:spcPts val="6885"/>
              </a:lnSpc>
            </a:pPr>
            <a:endParaRPr lang="en-US" sz="3447" spc="68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49668" y="192948"/>
            <a:ext cx="1211840" cy="835752"/>
          </a:xfrm>
          <a:custGeom>
            <a:avLst/>
            <a:gdLst/>
            <a:ahLst/>
            <a:cxnLst/>
            <a:rect l="l" t="t" r="r" b="b"/>
            <a:pathLst>
              <a:path w="1211840" h="835752">
                <a:moveTo>
                  <a:pt x="0" y="0"/>
                </a:moveTo>
                <a:lnTo>
                  <a:pt x="1211840" y="0"/>
                </a:lnTo>
                <a:lnTo>
                  <a:pt x="1211840" y="835752"/>
                </a:lnTo>
                <a:lnTo>
                  <a:pt x="0" y="835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1966552" y="4324811"/>
            <a:ext cx="324817" cy="324817"/>
          </a:xfrm>
          <a:custGeom>
            <a:avLst/>
            <a:gdLst/>
            <a:ahLst/>
            <a:cxnLst/>
            <a:rect l="l" t="t" r="r" b="b"/>
            <a:pathLst>
              <a:path w="324817" h="324817">
                <a:moveTo>
                  <a:pt x="0" y="0"/>
                </a:moveTo>
                <a:lnTo>
                  <a:pt x="324817" y="0"/>
                </a:lnTo>
                <a:lnTo>
                  <a:pt x="324817" y="324817"/>
                </a:lnTo>
                <a:lnTo>
                  <a:pt x="0" y="324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4" name="Group 4"/>
          <p:cNvGrpSpPr/>
          <p:nvPr/>
        </p:nvGrpSpPr>
        <p:grpSpPr>
          <a:xfrm>
            <a:off x="467360" y="4229122"/>
            <a:ext cx="3296018" cy="4904772"/>
            <a:chOff x="0" y="0"/>
            <a:chExt cx="1075196" cy="15999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75196" cy="1599989"/>
            </a:xfrm>
            <a:custGeom>
              <a:avLst/>
              <a:gdLst/>
              <a:ahLst/>
              <a:cxnLst/>
              <a:rect l="l" t="t" r="r" b="b"/>
              <a:pathLst>
                <a:path w="1075196" h="1599989">
                  <a:moveTo>
                    <a:pt x="0" y="0"/>
                  </a:moveTo>
                  <a:lnTo>
                    <a:pt x="1075196" y="0"/>
                  </a:lnTo>
                  <a:lnTo>
                    <a:pt x="1075196" y="1599989"/>
                  </a:lnTo>
                  <a:lnTo>
                    <a:pt x="0" y="1599989"/>
                  </a:lnTo>
                  <a:close/>
                </a:path>
              </a:pathLst>
            </a:custGeom>
            <a:solidFill>
              <a:srgbClr val="19223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75196" cy="163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98630" y="5038998"/>
            <a:ext cx="1233477" cy="906045"/>
          </a:xfrm>
          <a:custGeom>
            <a:avLst/>
            <a:gdLst/>
            <a:ahLst/>
            <a:cxnLst/>
            <a:rect l="l" t="t" r="r" b="b"/>
            <a:pathLst>
              <a:path w="1233477" h="906045">
                <a:moveTo>
                  <a:pt x="0" y="0"/>
                </a:moveTo>
                <a:lnTo>
                  <a:pt x="1233477" y="0"/>
                </a:lnTo>
                <a:lnTo>
                  <a:pt x="1233477" y="906045"/>
                </a:lnTo>
                <a:lnTo>
                  <a:pt x="0" y="9060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>
            <a:off x="650520" y="4392415"/>
            <a:ext cx="324817" cy="324817"/>
          </a:xfrm>
          <a:custGeom>
            <a:avLst/>
            <a:gdLst/>
            <a:ahLst/>
            <a:cxnLst/>
            <a:rect l="l" t="t" r="r" b="b"/>
            <a:pathLst>
              <a:path w="324817" h="324817">
                <a:moveTo>
                  <a:pt x="0" y="0"/>
                </a:moveTo>
                <a:lnTo>
                  <a:pt x="324817" y="0"/>
                </a:lnTo>
                <a:lnTo>
                  <a:pt x="324817" y="324816"/>
                </a:lnTo>
                <a:lnTo>
                  <a:pt x="0" y="324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>
            <a:off x="5535006" y="4324811"/>
            <a:ext cx="324817" cy="324817"/>
          </a:xfrm>
          <a:custGeom>
            <a:avLst/>
            <a:gdLst/>
            <a:ahLst/>
            <a:cxnLst/>
            <a:rect l="l" t="t" r="r" b="b"/>
            <a:pathLst>
              <a:path w="324817" h="324817">
                <a:moveTo>
                  <a:pt x="0" y="0"/>
                </a:moveTo>
                <a:lnTo>
                  <a:pt x="324816" y="0"/>
                </a:lnTo>
                <a:lnTo>
                  <a:pt x="324816" y="324817"/>
                </a:lnTo>
                <a:lnTo>
                  <a:pt x="0" y="324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0" name="Group 10"/>
          <p:cNvGrpSpPr/>
          <p:nvPr/>
        </p:nvGrpSpPr>
        <p:grpSpPr>
          <a:xfrm>
            <a:off x="3980898" y="4229122"/>
            <a:ext cx="3296018" cy="4904772"/>
            <a:chOff x="0" y="0"/>
            <a:chExt cx="1075196" cy="15999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5196" cy="1599989"/>
            </a:xfrm>
            <a:custGeom>
              <a:avLst/>
              <a:gdLst/>
              <a:ahLst/>
              <a:cxnLst/>
              <a:rect l="l" t="t" r="r" b="b"/>
              <a:pathLst>
                <a:path w="1075196" h="1599989">
                  <a:moveTo>
                    <a:pt x="0" y="0"/>
                  </a:moveTo>
                  <a:lnTo>
                    <a:pt x="1075196" y="0"/>
                  </a:lnTo>
                  <a:lnTo>
                    <a:pt x="1075196" y="1599989"/>
                  </a:lnTo>
                  <a:lnTo>
                    <a:pt x="0" y="1599989"/>
                  </a:lnTo>
                  <a:close/>
                </a:path>
              </a:pathLst>
            </a:custGeom>
            <a:solidFill>
              <a:srgbClr val="19223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75196" cy="163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4164059" y="4392415"/>
            <a:ext cx="324817" cy="324817"/>
          </a:xfrm>
          <a:custGeom>
            <a:avLst/>
            <a:gdLst/>
            <a:ahLst/>
            <a:cxnLst/>
            <a:rect l="l" t="t" r="r" b="b"/>
            <a:pathLst>
              <a:path w="324817" h="324817">
                <a:moveTo>
                  <a:pt x="0" y="0"/>
                </a:moveTo>
                <a:lnTo>
                  <a:pt x="324817" y="0"/>
                </a:lnTo>
                <a:lnTo>
                  <a:pt x="324817" y="324816"/>
                </a:lnTo>
                <a:lnTo>
                  <a:pt x="0" y="324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/>
          <p:cNvSpPr/>
          <p:nvPr/>
        </p:nvSpPr>
        <p:spPr>
          <a:xfrm>
            <a:off x="4920000" y="4806410"/>
            <a:ext cx="1417816" cy="1417816"/>
          </a:xfrm>
          <a:custGeom>
            <a:avLst/>
            <a:gdLst/>
            <a:ahLst/>
            <a:cxnLst/>
            <a:rect l="l" t="t" r="r" b="b"/>
            <a:pathLst>
              <a:path w="1417816" h="1417816">
                <a:moveTo>
                  <a:pt x="0" y="0"/>
                </a:moveTo>
                <a:lnTo>
                  <a:pt x="1417815" y="0"/>
                </a:lnTo>
                <a:lnTo>
                  <a:pt x="1417815" y="1417815"/>
                </a:lnTo>
                <a:lnTo>
                  <a:pt x="0" y="1417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Freeform 15"/>
          <p:cNvSpPr/>
          <p:nvPr/>
        </p:nvSpPr>
        <p:spPr>
          <a:xfrm>
            <a:off x="8993630" y="4324811"/>
            <a:ext cx="324817" cy="324817"/>
          </a:xfrm>
          <a:custGeom>
            <a:avLst/>
            <a:gdLst/>
            <a:ahLst/>
            <a:cxnLst/>
            <a:rect l="l" t="t" r="r" b="b"/>
            <a:pathLst>
              <a:path w="324817" h="324817">
                <a:moveTo>
                  <a:pt x="0" y="0"/>
                </a:moveTo>
                <a:lnTo>
                  <a:pt x="324816" y="0"/>
                </a:lnTo>
                <a:lnTo>
                  <a:pt x="324816" y="324817"/>
                </a:lnTo>
                <a:lnTo>
                  <a:pt x="0" y="324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6" name="Group 16"/>
          <p:cNvGrpSpPr/>
          <p:nvPr/>
        </p:nvGrpSpPr>
        <p:grpSpPr>
          <a:xfrm>
            <a:off x="7494437" y="4229122"/>
            <a:ext cx="3296018" cy="4904772"/>
            <a:chOff x="0" y="0"/>
            <a:chExt cx="1075196" cy="15999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5196" cy="1599989"/>
            </a:xfrm>
            <a:custGeom>
              <a:avLst/>
              <a:gdLst/>
              <a:ahLst/>
              <a:cxnLst/>
              <a:rect l="l" t="t" r="r" b="b"/>
              <a:pathLst>
                <a:path w="1075196" h="1599989">
                  <a:moveTo>
                    <a:pt x="0" y="0"/>
                  </a:moveTo>
                  <a:lnTo>
                    <a:pt x="1075196" y="0"/>
                  </a:lnTo>
                  <a:lnTo>
                    <a:pt x="1075196" y="1599989"/>
                  </a:lnTo>
                  <a:lnTo>
                    <a:pt x="0" y="1599989"/>
                  </a:lnTo>
                  <a:close/>
                </a:path>
              </a:pathLst>
            </a:custGeom>
            <a:solidFill>
              <a:srgbClr val="19223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75196" cy="163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7677598" y="4392415"/>
            <a:ext cx="324817" cy="324817"/>
          </a:xfrm>
          <a:custGeom>
            <a:avLst/>
            <a:gdLst/>
            <a:ahLst/>
            <a:cxnLst/>
            <a:rect l="l" t="t" r="r" b="b"/>
            <a:pathLst>
              <a:path w="324817" h="324817">
                <a:moveTo>
                  <a:pt x="0" y="0"/>
                </a:moveTo>
                <a:lnTo>
                  <a:pt x="324817" y="0"/>
                </a:lnTo>
                <a:lnTo>
                  <a:pt x="324817" y="324816"/>
                </a:lnTo>
                <a:lnTo>
                  <a:pt x="0" y="324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0" name="Freeform 20"/>
          <p:cNvSpPr/>
          <p:nvPr/>
        </p:nvSpPr>
        <p:spPr>
          <a:xfrm>
            <a:off x="8378236" y="4905431"/>
            <a:ext cx="1376133" cy="1318794"/>
          </a:xfrm>
          <a:custGeom>
            <a:avLst/>
            <a:gdLst/>
            <a:ahLst/>
            <a:cxnLst/>
            <a:rect l="l" t="t" r="r" b="b"/>
            <a:pathLst>
              <a:path w="1376133" h="1318794">
                <a:moveTo>
                  <a:pt x="0" y="0"/>
                </a:moveTo>
                <a:lnTo>
                  <a:pt x="1376133" y="0"/>
                </a:lnTo>
                <a:lnTo>
                  <a:pt x="1376133" y="1318794"/>
                </a:lnTo>
                <a:lnTo>
                  <a:pt x="0" y="13187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21" name="Group 21"/>
          <p:cNvGrpSpPr/>
          <p:nvPr/>
        </p:nvGrpSpPr>
        <p:grpSpPr>
          <a:xfrm>
            <a:off x="11009530" y="4229122"/>
            <a:ext cx="3296018" cy="4904772"/>
            <a:chOff x="0" y="0"/>
            <a:chExt cx="1075196" cy="159998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5196" cy="1599989"/>
            </a:xfrm>
            <a:custGeom>
              <a:avLst/>
              <a:gdLst/>
              <a:ahLst/>
              <a:cxnLst/>
              <a:rect l="l" t="t" r="r" b="b"/>
              <a:pathLst>
                <a:path w="1075196" h="1599989">
                  <a:moveTo>
                    <a:pt x="0" y="0"/>
                  </a:moveTo>
                  <a:lnTo>
                    <a:pt x="1075196" y="0"/>
                  </a:lnTo>
                  <a:lnTo>
                    <a:pt x="1075196" y="1599989"/>
                  </a:lnTo>
                  <a:lnTo>
                    <a:pt x="0" y="1599989"/>
                  </a:lnTo>
                  <a:close/>
                </a:path>
              </a:pathLst>
            </a:custGeom>
            <a:solidFill>
              <a:srgbClr val="19223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075196" cy="163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1192691" y="4392415"/>
            <a:ext cx="324817" cy="324817"/>
          </a:xfrm>
          <a:custGeom>
            <a:avLst/>
            <a:gdLst/>
            <a:ahLst/>
            <a:cxnLst/>
            <a:rect l="l" t="t" r="r" b="b"/>
            <a:pathLst>
              <a:path w="324817" h="324817">
                <a:moveTo>
                  <a:pt x="0" y="0"/>
                </a:moveTo>
                <a:lnTo>
                  <a:pt x="324816" y="0"/>
                </a:lnTo>
                <a:lnTo>
                  <a:pt x="324816" y="324816"/>
                </a:lnTo>
                <a:lnTo>
                  <a:pt x="0" y="324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5" name="Freeform 25"/>
          <p:cNvSpPr/>
          <p:nvPr/>
        </p:nvSpPr>
        <p:spPr>
          <a:xfrm>
            <a:off x="11817531" y="4905431"/>
            <a:ext cx="1680016" cy="1474214"/>
          </a:xfrm>
          <a:custGeom>
            <a:avLst/>
            <a:gdLst/>
            <a:ahLst/>
            <a:cxnLst/>
            <a:rect l="l" t="t" r="r" b="b"/>
            <a:pathLst>
              <a:path w="1680016" h="1474214">
                <a:moveTo>
                  <a:pt x="0" y="0"/>
                </a:moveTo>
                <a:lnTo>
                  <a:pt x="1680016" y="0"/>
                </a:lnTo>
                <a:lnTo>
                  <a:pt x="1680016" y="1474215"/>
                </a:lnTo>
                <a:lnTo>
                  <a:pt x="0" y="14742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26" name="Group 26"/>
          <p:cNvGrpSpPr/>
          <p:nvPr/>
        </p:nvGrpSpPr>
        <p:grpSpPr>
          <a:xfrm>
            <a:off x="14524623" y="4229122"/>
            <a:ext cx="3296018" cy="4904772"/>
            <a:chOff x="0" y="0"/>
            <a:chExt cx="1075196" cy="159998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5196" cy="1599989"/>
            </a:xfrm>
            <a:custGeom>
              <a:avLst/>
              <a:gdLst/>
              <a:ahLst/>
              <a:cxnLst/>
              <a:rect l="l" t="t" r="r" b="b"/>
              <a:pathLst>
                <a:path w="1075196" h="1599989">
                  <a:moveTo>
                    <a:pt x="0" y="0"/>
                  </a:moveTo>
                  <a:lnTo>
                    <a:pt x="1075196" y="0"/>
                  </a:lnTo>
                  <a:lnTo>
                    <a:pt x="1075196" y="1599989"/>
                  </a:lnTo>
                  <a:lnTo>
                    <a:pt x="0" y="1599989"/>
                  </a:lnTo>
                  <a:close/>
                </a:path>
              </a:pathLst>
            </a:custGeom>
            <a:solidFill>
              <a:srgbClr val="19223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75196" cy="163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4707783" y="4392415"/>
            <a:ext cx="324817" cy="324817"/>
          </a:xfrm>
          <a:custGeom>
            <a:avLst/>
            <a:gdLst/>
            <a:ahLst/>
            <a:cxnLst/>
            <a:rect l="l" t="t" r="r" b="b"/>
            <a:pathLst>
              <a:path w="324817" h="324817">
                <a:moveTo>
                  <a:pt x="0" y="0"/>
                </a:moveTo>
                <a:lnTo>
                  <a:pt x="324817" y="0"/>
                </a:lnTo>
                <a:lnTo>
                  <a:pt x="324817" y="324816"/>
                </a:lnTo>
                <a:lnTo>
                  <a:pt x="0" y="324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0" name="Freeform 30"/>
          <p:cNvSpPr/>
          <p:nvPr/>
        </p:nvSpPr>
        <p:spPr>
          <a:xfrm>
            <a:off x="15562848" y="4821284"/>
            <a:ext cx="1443433" cy="1558362"/>
          </a:xfrm>
          <a:custGeom>
            <a:avLst/>
            <a:gdLst/>
            <a:ahLst/>
            <a:cxnLst/>
            <a:rect l="l" t="t" r="r" b="b"/>
            <a:pathLst>
              <a:path w="1443433" h="1558362">
                <a:moveTo>
                  <a:pt x="0" y="0"/>
                </a:moveTo>
                <a:lnTo>
                  <a:pt x="1443432" y="0"/>
                </a:lnTo>
                <a:lnTo>
                  <a:pt x="1443432" y="1558362"/>
                </a:lnTo>
                <a:lnTo>
                  <a:pt x="0" y="15583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1" name="TextBox 31"/>
          <p:cNvSpPr txBox="1"/>
          <p:nvPr/>
        </p:nvSpPr>
        <p:spPr>
          <a:xfrm>
            <a:off x="4571757" y="4344790"/>
            <a:ext cx="1493799" cy="33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spcBef>
                <a:spcPct val="0"/>
              </a:spcBef>
            </a:pPr>
            <a:r>
              <a:rPr lang="en-US" sz="1899" b="1" spc="-106">
                <a:solidFill>
                  <a:srgbClr val="30A0E8"/>
                </a:solidFill>
                <a:latin typeface="Exo 2 2 Bold"/>
                <a:ea typeface="Exo 2 2 Bold"/>
                <a:cs typeface="Exo 2 2 Bold"/>
                <a:sym typeface="Exo 2 2 Bold"/>
              </a:rPr>
              <a:t>DETECT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8218" y="4344790"/>
            <a:ext cx="1985553" cy="33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spcBef>
                <a:spcPct val="0"/>
              </a:spcBef>
            </a:pPr>
            <a:r>
              <a:rPr lang="en-US" sz="1899" b="1" spc="-106">
                <a:solidFill>
                  <a:srgbClr val="30A0E8"/>
                </a:solidFill>
                <a:latin typeface="Exo 2 2 Bold"/>
                <a:ea typeface="Exo 2 2 Bold"/>
                <a:cs typeface="Exo 2 2 Bold"/>
                <a:sym typeface="Exo 2 2 Bold"/>
              </a:rPr>
              <a:t>MONITOR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9793" y="1684771"/>
            <a:ext cx="12592549" cy="1490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6"/>
              </a:lnSpc>
            </a:pPr>
            <a:r>
              <a:rPr lang="en-US" sz="5637" spc="28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OUR MDR SERVICE WORKS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0520" y="6404975"/>
            <a:ext cx="2929696" cy="244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24/7 visibility across endpoints, servers, and workloads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Continuous collection of security telemetry and activity logs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Baseline normal behavior to identify anomalies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External &amp; Web Application Vulnerability Scan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Ongoing health and agent status monitoring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64059" y="6633883"/>
            <a:ext cx="2929696" cy="195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Advanced threat detection using Acronis EDR​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Identification of malware, ransomware, and suspicious behavior​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Correlation of events to reduce false positives</a:t>
            </a:r>
          </a:p>
          <a:p>
            <a:pPr algn="l">
              <a:lnSpc>
                <a:spcPts val="1983"/>
              </a:lnSpc>
            </a:pPr>
            <a:endParaRPr lang="en-US" sz="124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677598" y="6633883"/>
            <a:ext cx="2929696" cy="195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Security analysts review and validate alerts​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Contextual analysis to determine scope and impact​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Root-cause analysis to understand how the incident occurred</a:t>
            </a:r>
          </a:p>
          <a:p>
            <a:pPr algn="l">
              <a:lnSpc>
                <a:spcPts val="1983"/>
              </a:lnSpc>
            </a:pPr>
            <a:endParaRPr lang="en-US" sz="124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085296" y="4344790"/>
            <a:ext cx="1459520" cy="33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spcBef>
                <a:spcPct val="0"/>
              </a:spcBef>
            </a:pPr>
            <a:r>
              <a:rPr lang="en-US" sz="1899" b="1" spc="-106">
                <a:solidFill>
                  <a:srgbClr val="30A0E8"/>
                </a:solidFill>
                <a:latin typeface="Exo 2 2 Bold"/>
                <a:ea typeface="Exo 2 2 Bold"/>
                <a:cs typeface="Exo 2 2 Bold"/>
                <a:sym typeface="Exo 2 2 Bold"/>
              </a:rPr>
              <a:t>INVESTIGATE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192691" y="6633883"/>
            <a:ext cx="2929696" cy="220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Immediate containment actions to limit spread​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Malware isolation, process termination, and remediation​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Guided or managed response based on agreed playbooks​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 notification and escalation for critical incidents</a:t>
            </a:r>
          </a:p>
          <a:p>
            <a:pPr algn="l">
              <a:lnSpc>
                <a:spcPts val="1983"/>
              </a:lnSpc>
            </a:pPr>
            <a:endParaRPr lang="en-US" sz="124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1600389" y="4344790"/>
            <a:ext cx="1459520" cy="33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spcBef>
                <a:spcPct val="0"/>
              </a:spcBef>
            </a:pPr>
            <a:r>
              <a:rPr lang="en-US" sz="1899" b="1" spc="-106">
                <a:solidFill>
                  <a:srgbClr val="30A0E8"/>
                </a:solidFill>
                <a:latin typeface="Exo 2 2 Bold"/>
                <a:ea typeface="Exo 2 2 Bold"/>
                <a:cs typeface="Exo 2 2 Bold"/>
                <a:sym typeface="Exo 2 2 Bold"/>
              </a:rPr>
              <a:t>RESPOND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707783" y="6633883"/>
            <a:ext cx="2929696" cy="220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Clear incident notifications with actionable details​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Post-incident summaries and recommendations​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Ongoing security insights and trends​</a:t>
            </a:r>
          </a:p>
          <a:p>
            <a:pPr marL="269290" lvl="1" indent="-134645" algn="l">
              <a:lnSpc>
                <a:spcPts val="1983"/>
              </a:lnSpc>
              <a:buFont typeface="Arial"/>
              <a:buChar char="•"/>
            </a:pPr>
            <a:r>
              <a:rPr lang="en-US" sz="12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Regular service reports on detections and seen activity</a:t>
            </a:r>
          </a:p>
          <a:p>
            <a:pPr algn="l">
              <a:lnSpc>
                <a:spcPts val="1983"/>
              </a:lnSpc>
            </a:pPr>
            <a:endParaRPr lang="en-US" sz="124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5115481" y="4344790"/>
            <a:ext cx="1459520" cy="33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spcBef>
                <a:spcPct val="0"/>
              </a:spcBef>
            </a:pPr>
            <a:r>
              <a:rPr lang="en-US" sz="1899" b="1" spc="-106">
                <a:solidFill>
                  <a:srgbClr val="30A0E8"/>
                </a:solidFill>
                <a:latin typeface="Exo 2 2 Bold"/>
                <a:ea typeface="Exo 2 2 Bold"/>
                <a:cs typeface="Exo 2 2 Bold"/>
                <a:sym typeface="Exo 2 2 Bold"/>
              </a:rPr>
              <a:t>REPORT</a:t>
            </a:r>
          </a:p>
        </p:txBody>
      </p:sp>
      <p:sp>
        <p:nvSpPr>
          <p:cNvPr id="43" name="Freeform 43"/>
          <p:cNvSpPr/>
          <p:nvPr/>
        </p:nvSpPr>
        <p:spPr>
          <a:xfrm>
            <a:off x="149668" y="192948"/>
            <a:ext cx="1211840" cy="835752"/>
          </a:xfrm>
          <a:custGeom>
            <a:avLst/>
            <a:gdLst/>
            <a:ahLst/>
            <a:cxnLst/>
            <a:rect l="l" t="t" r="r" b="b"/>
            <a:pathLst>
              <a:path w="1211840" h="835752">
                <a:moveTo>
                  <a:pt x="0" y="0"/>
                </a:moveTo>
                <a:lnTo>
                  <a:pt x="1211840" y="0"/>
                </a:lnTo>
                <a:lnTo>
                  <a:pt x="1211840" y="835752"/>
                </a:lnTo>
                <a:lnTo>
                  <a:pt x="0" y="8357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4" name="Freeform 44"/>
          <p:cNvSpPr/>
          <p:nvPr/>
        </p:nvSpPr>
        <p:spPr>
          <a:xfrm>
            <a:off x="2716844" y="3172129"/>
            <a:ext cx="1046533" cy="548180"/>
          </a:xfrm>
          <a:custGeom>
            <a:avLst/>
            <a:gdLst/>
            <a:ahLst/>
            <a:cxnLst/>
            <a:rect l="l" t="t" r="r" b="b"/>
            <a:pathLst>
              <a:path w="1046533" h="548180">
                <a:moveTo>
                  <a:pt x="0" y="0"/>
                </a:moveTo>
                <a:lnTo>
                  <a:pt x="1046533" y="0"/>
                </a:lnTo>
                <a:lnTo>
                  <a:pt x="1046533" y="548180"/>
                </a:lnTo>
                <a:lnTo>
                  <a:pt x="0" y="54818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13450" r="-469" b="-1883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5" name="Freeform 45"/>
          <p:cNvSpPr/>
          <p:nvPr/>
        </p:nvSpPr>
        <p:spPr>
          <a:xfrm>
            <a:off x="529793" y="3175674"/>
            <a:ext cx="1327952" cy="544635"/>
          </a:xfrm>
          <a:custGeom>
            <a:avLst/>
            <a:gdLst/>
            <a:ahLst/>
            <a:cxnLst/>
            <a:rect l="l" t="t" r="r" b="b"/>
            <a:pathLst>
              <a:path w="1327952" h="544635">
                <a:moveTo>
                  <a:pt x="0" y="0"/>
                </a:moveTo>
                <a:lnTo>
                  <a:pt x="1327952" y="0"/>
                </a:lnTo>
                <a:lnTo>
                  <a:pt x="1327952" y="544635"/>
                </a:lnTo>
                <a:lnTo>
                  <a:pt x="0" y="54463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3951" t="-61365" r="-14569" b="-47414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6" name="TextBox 46"/>
          <p:cNvSpPr txBox="1"/>
          <p:nvPr/>
        </p:nvSpPr>
        <p:spPr>
          <a:xfrm>
            <a:off x="1933680" y="3542618"/>
            <a:ext cx="783164" cy="11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"/>
              </a:lnSpc>
            </a:pPr>
            <a:r>
              <a:rPr lang="en-US" sz="885" spc="44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POWERED BY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1080879" y="4936837"/>
            <a:ext cx="1753196" cy="2040577"/>
          </a:xfrm>
          <a:custGeom>
            <a:avLst/>
            <a:gdLst/>
            <a:ahLst/>
            <a:cxnLst/>
            <a:rect l="l" t="t" r="r" b="b"/>
            <a:pathLst>
              <a:path w="1753196" h="2040577">
                <a:moveTo>
                  <a:pt x="0" y="0"/>
                </a:moveTo>
                <a:lnTo>
                  <a:pt x="1753196" y="0"/>
                </a:lnTo>
                <a:lnTo>
                  <a:pt x="1753196" y="2040577"/>
                </a:lnTo>
                <a:lnTo>
                  <a:pt x="0" y="20405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-1207193" y="7269149"/>
            <a:ext cx="6329341" cy="250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8"/>
              </a:lnSpc>
            </a:pPr>
            <a:r>
              <a:rPr lang="en-US" sz="1882" spc="9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</a:t>
            </a:r>
          </a:p>
        </p:txBody>
      </p:sp>
      <p:sp>
        <p:nvSpPr>
          <p:cNvPr id="5" name="AutoShape 5"/>
          <p:cNvSpPr/>
          <p:nvPr/>
        </p:nvSpPr>
        <p:spPr>
          <a:xfrm>
            <a:off x="3267199" y="6278872"/>
            <a:ext cx="1584074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6" name="AutoShape 6"/>
          <p:cNvSpPr/>
          <p:nvPr/>
        </p:nvSpPr>
        <p:spPr>
          <a:xfrm flipV="1">
            <a:off x="4829432" y="5144456"/>
            <a:ext cx="0" cy="2268832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" name="AutoShape 7"/>
          <p:cNvSpPr/>
          <p:nvPr/>
        </p:nvSpPr>
        <p:spPr>
          <a:xfrm>
            <a:off x="4829432" y="5166297"/>
            <a:ext cx="1584074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PH"/>
          </a:p>
        </p:txBody>
      </p:sp>
      <p:sp>
        <p:nvSpPr>
          <p:cNvPr id="8" name="AutoShape 8"/>
          <p:cNvSpPr/>
          <p:nvPr/>
        </p:nvSpPr>
        <p:spPr>
          <a:xfrm>
            <a:off x="4829432" y="7391447"/>
            <a:ext cx="1584074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>
            <a:off x="6918645" y="4389347"/>
            <a:ext cx="1510217" cy="1510217"/>
          </a:xfrm>
          <a:custGeom>
            <a:avLst/>
            <a:gdLst/>
            <a:ahLst/>
            <a:cxnLst/>
            <a:rect l="l" t="t" r="r" b="b"/>
            <a:pathLst>
              <a:path w="1510217" h="1510217">
                <a:moveTo>
                  <a:pt x="0" y="0"/>
                </a:moveTo>
                <a:lnTo>
                  <a:pt x="1510218" y="0"/>
                </a:lnTo>
                <a:lnTo>
                  <a:pt x="1510218" y="1510218"/>
                </a:lnTo>
                <a:lnTo>
                  <a:pt x="0" y="15102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/>
          <p:cNvSpPr/>
          <p:nvPr/>
        </p:nvSpPr>
        <p:spPr>
          <a:xfrm>
            <a:off x="6918645" y="6731488"/>
            <a:ext cx="1510217" cy="1363601"/>
          </a:xfrm>
          <a:custGeom>
            <a:avLst/>
            <a:gdLst/>
            <a:ahLst/>
            <a:cxnLst/>
            <a:rect l="l" t="t" r="r" b="b"/>
            <a:pathLst>
              <a:path w="1510217" h="1363601">
                <a:moveTo>
                  <a:pt x="0" y="0"/>
                </a:moveTo>
                <a:lnTo>
                  <a:pt x="1510218" y="0"/>
                </a:lnTo>
                <a:lnTo>
                  <a:pt x="1510218" y="1363601"/>
                </a:lnTo>
                <a:lnTo>
                  <a:pt x="0" y="136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1"/>
          <p:cNvSpPr txBox="1"/>
          <p:nvPr/>
        </p:nvSpPr>
        <p:spPr>
          <a:xfrm>
            <a:off x="4509083" y="6106868"/>
            <a:ext cx="6329341" cy="44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2"/>
              </a:lnSpc>
            </a:pPr>
            <a:r>
              <a:rPr lang="en-US" sz="1682" spc="8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ADVISORS</a:t>
            </a:r>
          </a:p>
          <a:p>
            <a:pPr algn="ctr">
              <a:lnSpc>
                <a:spcPts val="1732"/>
              </a:lnSpc>
            </a:pPr>
            <a:r>
              <a:rPr lang="en-US" sz="1682" spc="8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(CA)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425609" y="6078767"/>
            <a:ext cx="1584074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3" name="Freeform 13"/>
          <p:cNvSpPr/>
          <p:nvPr/>
        </p:nvSpPr>
        <p:spPr>
          <a:xfrm>
            <a:off x="11482361" y="3229311"/>
            <a:ext cx="1201478" cy="1707526"/>
          </a:xfrm>
          <a:custGeom>
            <a:avLst/>
            <a:gdLst/>
            <a:ahLst/>
            <a:cxnLst/>
            <a:rect l="l" t="t" r="r" b="b"/>
            <a:pathLst>
              <a:path w="1201478" h="1707526">
                <a:moveTo>
                  <a:pt x="0" y="0"/>
                </a:moveTo>
                <a:lnTo>
                  <a:pt x="1201478" y="0"/>
                </a:lnTo>
                <a:lnTo>
                  <a:pt x="1201478" y="1707526"/>
                </a:lnTo>
                <a:lnTo>
                  <a:pt x="0" y="17075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/>
          <p:cNvSpPr/>
          <p:nvPr/>
        </p:nvSpPr>
        <p:spPr>
          <a:xfrm>
            <a:off x="11438308" y="5425109"/>
            <a:ext cx="1201478" cy="1707526"/>
          </a:xfrm>
          <a:custGeom>
            <a:avLst/>
            <a:gdLst/>
            <a:ahLst/>
            <a:cxnLst/>
            <a:rect l="l" t="t" r="r" b="b"/>
            <a:pathLst>
              <a:path w="1201478" h="1707526">
                <a:moveTo>
                  <a:pt x="0" y="0"/>
                </a:moveTo>
                <a:lnTo>
                  <a:pt x="1201478" y="0"/>
                </a:lnTo>
                <a:lnTo>
                  <a:pt x="1201478" y="1707526"/>
                </a:lnTo>
                <a:lnTo>
                  <a:pt x="0" y="17075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Freeform 15"/>
          <p:cNvSpPr/>
          <p:nvPr/>
        </p:nvSpPr>
        <p:spPr>
          <a:xfrm>
            <a:off x="11722851" y="7520400"/>
            <a:ext cx="632392" cy="1547137"/>
          </a:xfrm>
          <a:custGeom>
            <a:avLst/>
            <a:gdLst/>
            <a:ahLst/>
            <a:cxnLst/>
            <a:rect l="l" t="t" r="r" b="b"/>
            <a:pathLst>
              <a:path w="632392" h="1547137">
                <a:moveTo>
                  <a:pt x="0" y="0"/>
                </a:moveTo>
                <a:lnTo>
                  <a:pt x="632392" y="0"/>
                </a:lnTo>
                <a:lnTo>
                  <a:pt x="632392" y="1547137"/>
                </a:lnTo>
                <a:lnTo>
                  <a:pt x="0" y="15471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6" name="TextBox 16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7208" y="1425711"/>
            <a:ext cx="10221216" cy="180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5"/>
              </a:lnSpc>
            </a:pPr>
            <a:r>
              <a:rPr lang="en-US" sz="4568" spc="22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INSIGHTZ INTELLIGENT OPERATIONS CENTRE (OIC)</a:t>
            </a:r>
            <a:r>
              <a:rPr lang="en-US" sz="4568" spc="228">
                <a:solidFill>
                  <a:srgbClr val="EC780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(24X7X365)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9083" y="8365012"/>
            <a:ext cx="6329341" cy="22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2"/>
              </a:lnSpc>
            </a:pPr>
            <a:r>
              <a:rPr lang="en-US" sz="1682" spc="8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ONBOARDING SPECIALIST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90551" y="3644736"/>
            <a:ext cx="4481621" cy="91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5"/>
              </a:lnSpc>
            </a:pPr>
            <a:r>
              <a:rPr lang="en-US" sz="1782" spc="8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SOC TEAM 1</a:t>
            </a:r>
          </a:p>
          <a:p>
            <a:pPr algn="ctr">
              <a:lnSpc>
                <a:spcPts val="1835"/>
              </a:lnSpc>
            </a:pPr>
            <a:endParaRPr lang="en-US" sz="1782" spc="89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ctr">
              <a:lnSpc>
                <a:spcPts val="1835"/>
              </a:lnSpc>
            </a:pPr>
            <a:r>
              <a:rPr lang="en-US" sz="1782" spc="8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SECURITY MONITORING - LOW/MED FIDELITY ALERTS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46498" y="5840534"/>
            <a:ext cx="4481621" cy="91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5"/>
              </a:lnSpc>
            </a:pPr>
            <a:r>
              <a:rPr lang="en-US" sz="1782" spc="8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SOC TEAM 2 ANALYSTS</a:t>
            </a:r>
          </a:p>
          <a:p>
            <a:pPr algn="ctr">
              <a:lnSpc>
                <a:spcPts val="1835"/>
              </a:lnSpc>
            </a:pPr>
            <a:endParaRPr lang="en-US" sz="1782" spc="89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ctr">
              <a:lnSpc>
                <a:spcPts val="1835"/>
              </a:lnSpc>
            </a:pPr>
            <a:r>
              <a:rPr lang="en-US" sz="1782" spc="8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THREAT DISCOVERED - HIGH/CRITICAL FIDELITY ALERTS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90551" y="7771050"/>
            <a:ext cx="4481621" cy="1143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5"/>
              </a:lnSpc>
            </a:pPr>
            <a:r>
              <a:rPr lang="en-US" sz="1782" spc="8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SOC IR TEAM</a:t>
            </a:r>
          </a:p>
          <a:p>
            <a:pPr algn="ctr">
              <a:lnSpc>
                <a:spcPts val="1835"/>
              </a:lnSpc>
            </a:pPr>
            <a:endParaRPr lang="en-US" sz="1782" spc="89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ctr">
              <a:lnSpc>
                <a:spcPts val="1835"/>
              </a:lnSpc>
            </a:pPr>
            <a:r>
              <a:rPr lang="en-US" sz="1782" spc="8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INCIDENT RESPONDER - THREAT INTEL/FINDING/HUNTING RECOMMENDATION ACTIONS</a:t>
            </a:r>
          </a:p>
        </p:txBody>
      </p:sp>
      <p:sp>
        <p:nvSpPr>
          <p:cNvPr id="22" name="Freeform 22"/>
          <p:cNvSpPr/>
          <p:nvPr/>
        </p:nvSpPr>
        <p:spPr>
          <a:xfrm>
            <a:off x="149668" y="192948"/>
            <a:ext cx="1211840" cy="835752"/>
          </a:xfrm>
          <a:custGeom>
            <a:avLst/>
            <a:gdLst/>
            <a:ahLst/>
            <a:cxnLst/>
            <a:rect l="l" t="t" r="r" b="b"/>
            <a:pathLst>
              <a:path w="1211840" h="835752">
                <a:moveTo>
                  <a:pt x="0" y="0"/>
                </a:moveTo>
                <a:lnTo>
                  <a:pt x="1211840" y="0"/>
                </a:lnTo>
                <a:lnTo>
                  <a:pt x="1211840" y="835752"/>
                </a:lnTo>
                <a:lnTo>
                  <a:pt x="0" y="8357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12150919" y="3974121"/>
            <a:ext cx="3047763" cy="3047763"/>
          </a:xfrm>
          <a:custGeom>
            <a:avLst/>
            <a:gdLst/>
            <a:ahLst/>
            <a:cxnLst/>
            <a:rect l="l" t="t" r="r" b="b"/>
            <a:pathLst>
              <a:path w="3047763" h="3047763">
                <a:moveTo>
                  <a:pt x="0" y="0"/>
                </a:moveTo>
                <a:lnTo>
                  <a:pt x="3047763" y="0"/>
                </a:lnTo>
                <a:lnTo>
                  <a:pt x="3047763" y="3047763"/>
                </a:lnTo>
                <a:lnTo>
                  <a:pt x="0" y="30477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7423799" y="4313424"/>
            <a:ext cx="2713976" cy="2708460"/>
          </a:xfrm>
          <a:custGeom>
            <a:avLst/>
            <a:gdLst/>
            <a:ahLst/>
            <a:cxnLst/>
            <a:rect l="l" t="t" r="r" b="b"/>
            <a:pathLst>
              <a:path w="2713976" h="2708460">
                <a:moveTo>
                  <a:pt x="0" y="0"/>
                </a:moveTo>
                <a:lnTo>
                  <a:pt x="2713976" y="0"/>
                </a:lnTo>
                <a:lnTo>
                  <a:pt x="2713976" y="2708460"/>
                </a:lnTo>
                <a:lnTo>
                  <a:pt x="0" y="27084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2460764" y="4018217"/>
            <a:ext cx="3003667" cy="3003667"/>
          </a:xfrm>
          <a:custGeom>
            <a:avLst/>
            <a:gdLst/>
            <a:ahLst/>
            <a:cxnLst/>
            <a:rect l="l" t="t" r="r" b="b"/>
            <a:pathLst>
              <a:path w="3003667" h="3003667">
                <a:moveTo>
                  <a:pt x="0" y="0"/>
                </a:moveTo>
                <a:lnTo>
                  <a:pt x="3003667" y="0"/>
                </a:lnTo>
                <a:lnTo>
                  <a:pt x="3003667" y="3003667"/>
                </a:lnTo>
                <a:lnTo>
                  <a:pt x="0" y="3003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TextBox 6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728416"/>
            <a:ext cx="11805291" cy="1392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4"/>
              </a:lnSpc>
            </a:pPr>
            <a:r>
              <a:rPr lang="en-US" sz="5276" spc="263">
                <a:solidFill>
                  <a:srgbClr val="EC780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COMMUNICATION </a:t>
            </a:r>
          </a:p>
          <a:p>
            <a:pPr algn="l">
              <a:lnSpc>
                <a:spcPts val="5434"/>
              </a:lnSpc>
            </a:pPr>
            <a:r>
              <a:rPr lang="en-US" sz="5276" spc="263">
                <a:solidFill>
                  <a:srgbClr val="EC780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CHANNELS</a:t>
            </a:r>
          </a:p>
        </p:txBody>
      </p:sp>
      <p:sp>
        <p:nvSpPr>
          <p:cNvPr id="8" name="AutoShape 8"/>
          <p:cNvSpPr/>
          <p:nvPr/>
        </p:nvSpPr>
        <p:spPr>
          <a:xfrm>
            <a:off x="5773274" y="5686486"/>
            <a:ext cx="125274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PH"/>
          </a:p>
        </p:txBody>
      </p:sp>
      <p:sp>
        <p:nvSpPr>
          <p:cNvPr id="9" name="AutoShape 9"/>
          <p:cNvSpPr/>
          <p:nvPr/>
        </p:nvSpPr>
        <p:spPr>
          <a:xfrm>
            <a:off x="10446228" y="5648822"/>
            <a:ext cx="1252747" cy="0"/>
          </a:xfrm>
          <a:prstGeom prst="line">
            <a:avLst/>
          </a:prstGeom>
          <a:ln w="5715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Box 10"/>
          <p:cNvSpPr txBox="1"/>
          <p:nvPr/>
        </p:nvSpPr>
        <p:spPr>
          <a:xfrm>
            <a:off x="3529655" y="7442064"/>
            <a:ext cx="5661628" cy="6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6"/>
              </a:lnSpc>
            </a:pPr>
            <a:r>
              <a:rPr lang="en-US" sz="1646" b="1" spc="82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DAILY COORDINATION AND REAL-TIME COLLABORATION VIA MICROSOFT TEAMS AND WHATSAPP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03441" y="7252266"/>
            <a:ext cx="3445810" cy="587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3"/>
              </a:lnSpc>
            </a:pPr>
            <a:r>
              <a:rPr lang="en-US" sz="1488" b="1" spc="74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OFFICIAL UPDATES, INCIDENT NOTIFICATIONS, AND SCHEDULED REPORTS ARE SHARED VIA EMAIL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9668" y="192948"/>
            <a:ext cx="1211840" cy="835752"/>
          </a:xfrm>
          <a:custGeom>
            <a:avLst/>
            <a:gdLst/>
            <a:ahLst/>
            <a:cxnLst/>
            <a:rect l="l" t="t" r="r" b="b"/>
            <a:pathLst>
              <a:path w="1211840" h="835752">
                <a:moveTo>
                  <a:pt x="0" y="0"/>
                </a:moveTo>
                <a:lnTo>
                  <a:pt x="1211840" y="0"/>
                </a:lnTo>
                <a:lnTo>
                  <a:pt x="1211840" y="835752"/>
                </a:lnTo>
                <a:lnTo>
                  <a:pt x="0" y="8357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8171" y="1390463"/>
            <a:ext cx="16701129" cy="147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85"/>
              </a:lnSpc>
            </a:pPr>
            <a:r>
              <a:rPr lang="en-US" sz="6160" spc="3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SCOPE OF WORK</a:t>
            </a:r>
          </a:p>
          <a:p>
            <a:pPr algn="l">
              <a:lnSpc>
                <a:spcPts val="3765"/>
              </a:lnSpc>
            </a:pPr>
            <a:r>
              <a:rPr lang="en-US" sz="2942" spc="147">
                <a:solidFill>
                  <a:srgbClr val="EC780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OUR MDR SERVICE DELIVERS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5588" y="3134923"/>
            <a:ext cx="11547010" cy="3127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2447" spc="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Review and analysis of all Customer's events within SLA (below) of the event being reported to the EDR console. ​</a:t>
            </a:r>
          </a:p>
          <a:p>
            <a:pPr marL="528441" lvl="1" indent="-264220" algn="l">
              <a:lnSpc>
                <a:spcPts val="4185"/>
              </a:lnSpc>
              <a:buFont typeface="Arial"/>
              <a:buChar char="•"/>
            </a:pPr>
            <a:r>
              <a:rPr lang="en-US" sz="2447" spc="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30min – Critical​</a:t>
            </a:r>
          </a:p>
          <a:p>
            <a:pPr marL="528441" lvl="1" indent="-264220" algn="l">
              <a:lnSpc>
                <a:spcPts val="4185"/>
              </a:lnSpc>
              <a:buFont typeface="Arial"/>
              <a:buChar char="•"/>
            </a:pPr>
            <a:r>
              <a:rPr lang="en-US" sz="2447" spc="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1hour – High​</a:t>
            </a:r>
          </a:p>
          <a:p>
            <a:pPr marL="528441" lvl="1" indent="-264220" algn="l">
              <a:lnSpc>
                <a:spcPts val="4185"/>
              </a:lnSpc>
              <a:buFont typeface="Arial"/>
              <a:buChar char="•"/>
            </a:pPr>
            <a:r>
              <a:rPr lang="en-US" sz="2447" spc="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8hour – Medium​</a:t>
            </a:r>
          </a:p>
          <a:p>
            <a:pPr marL="528441" lvl="1" indent="-264220" algn="l">
              <a:lnSpc>
                <a:spcPts val="4185"/>
              </a:lnSpc>
              <a:buFont typeface="Arial"/>
              <a:buChar char="•"/>
            </a:pPr>
            <a:r>
              <a:rPr lang="en-US" sz="2447" spc="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24hour – Low/Informational</a:t>
            </a:r>
          </a:p>
        </p:txBody>
      </p:sp>
      <p:sp>
        <p:nvSpPr>
          <p:cNvPr id="6" name="Freeform 6"/>
          <p:cNvSpPr/>
          <p:nvPr/>
        </p:nvSpPr>
        <p:spPr>
          <a:xfrm>
            <a:off x="149668" y="192948"/>
            <a:ext cx="1211840" cy="835752"/>
          </a:xfrm>
          <a:custGeom>
            <a:avLst/>
            <a:gdLst/>
            <a:ahLst/>
            <a:cxnLst/>
            <a:rect l="l" t="t" r="r" b="b"/>
            <a:pathLst>
              <a:path w="1211840" h="835752">
                <a:moveTo>
                  <a:pt x="0" y="0"/>
                </a:moveTo>
                <a:lnTo>
                  <a:pt x="1211840" y="0"/>
                </a:lnTo>
                <a:lnTo>
                  <a:pt x="1211840" y="835752"/>
                </a:lnTo>
                <a:lnTo>
                  <a:pt x="0" y="835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TextBox 7"/>
          <p:cNvSpPr txBox="1"/>
          <p:nvPr/>
        </p:nvSpPr>
        <p:spPr>
          <a:xfrm>
            <a:off x="755588" y="6449294"/>
            <a:ext cx="13170581" cy="311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450" spc="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 MDR onboarding ​</a:t>
            </a:r>
          </a:p>
          <a:p>
            <a:pPr algn="l">
              <a:lnSpc>
                <a:spcPts val="4189"/>
              </a:lnSpc>
            </a:pPr>
            <a:r>
              <a:rPr lang="en-US" sz="2450" spc="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3. 24/7/365 monitoring to identify cyberthreats by Insightz SOC. ​</a:t>
            </a:r>
          </a:p>
          <a:p>
            <a:pPr algn="l">
              <a:lnSpc>
                <a:spcPts val="4189"/>
              </a:lnSpc>
            </a:pPr>
            <a:r>
              <a:rPr lang="en-US" sz="2450" spc="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4. Event triage and prioritizing with real-time alerting ​</a:t>
            </a:r>
          </a:p>
          <a:p>
            <a:pPr algn="l">
              <a:lnSpc>
                <a:spcPts val="4189"/>
              </a:lnSpc>
            </a:pPr>
            <a:r>
              <a:rPr lang="en-US" sz="2450" spc="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5. Rapid cyberthreat detection and isolation by Insightz SOC team. ​</a:t>
            </a:r>
          </a:p>
          <a:p>
            <a:pPr algn="l">
              <a:lnSpc>
                <a:spcPts val="4189"/>
              </a:lnSpc>
            </a:pPr>
            <a:r>
              <a:rPr lang="en-US" sz="2450" spc="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6. To mitigate, stop and prevent security incidents. ​</a:t>
            </a:r>
          </a:p>
          <a:p>
            <a:pPr algn="l">
              <a:lnSpc>
                <a:spcPts val="4189"/>
              </a:lnSpc>
            </a:pPr>
            <a:endParaRPr lang="en-US" sz="2450" spc="4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8171" y="1501829"/>
            <a:ext cx="16701129" cy="147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85"/>
              </a:lnSpc>
            </a:pPr>
            <a:r>
              <a:rPr lang="en-US" sz="6160" spc="3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SCOPE OF WORK</a:t>
            </a:r>
          </a:p>
          <a:p>
            <a:pPr algn="l">
              <a:lnSpc>
                <a:spcPts val="3765"/>
              </a:lnSpc>
            </a:pPr>
            <a:r>
              <a:rPr lang="en-US" sz="2942" spc="147">
                <a:solidFill>
                  <a:srgbClr val="EC780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OUR MDR SERVICE DELIVERS</a:t>
            </a:r>
          </a:p>
        </p:txBody>
      </p:sp>
      <p:sp>
        <p:nvSpPr>
          <p:cNvPr id="5" name="Freeform 5"/>
          <p:cNvSpPr/>
          <p:nvPr/>
        </p:nvSpPr>
        <p:spPr>
          <a:xfrm>
            <a:off x="149668" y="192948"/>
            <a:ext cx="1211840" cy="835752"/>
          </a:xfrm>
          <a:custGeom>
            <a:avLst/>
            <a:gdLst/>
            <a:ahLst/>
            <a:cxnLst/>
            <a:rect l="l" t="t" r="r" b="b"/>
            <a:pathLst>
              <a:path w="1211840" h="835752">
                <a:moveTo>
                  <a:pt x="0" y="0"/>
                </a:moveTo>
                <a:lnTo>
                  <a:pt x="1211840" y="0"/>
                </a:lnTo>
                <a:lnTo>
                  <a:pt x="1211840" y="835752"/>
                </a:lnTo>
                <a:lnTo>
                  <a:pt x="0" y="835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TextBox 6"/>
          <p:cNvSpPr txBox="1"/>
          <p:nvPr/>
        </p:nvSpPr>
        <p:spPr>
          <a:xfrm>
            <a:off x="755588" y="3319367"/>
            <a:ext cx="13170581" cy="483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2579" spc="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7. Detailed multichannel security escalations (via Email and WhatsApp alerts) ​</a:t>
            </a:r>
          </a:p>
          <a:p>
            <a:pPr algn="l">
              <a:lnSpc>
                <a:spcPts val="4850"/>
              </a:lnSpc>
            </a:pPr>
            <a:r>
              <a:rPr lang="en-US" sz="2579" spc="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8. 24/7 security threats remediation by Insightz team. ​</a:t>
            </a:r>
          </a:p>
          <a:p>
            <a:pPr algn="l">
              <a:lnSpc>
                <a:spcPts val="4850"/>
              </a:lnSpc>
            </a:pPr>
            <a:r>
              <a:rPr lang="en-US" sz="2579" spc="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9. Attack rollback and recovery from backups (requires agreement with MSP and authorization from End Customers to allow this action. ​</a:t>
            </a:r>
          </a:p>
          <a:p>
            <a:pPr algn="l">
              <a:lnSpc>
                <a:spcPts val="4850"/>
              </a:lnSpc>
            </a:pPr>
            <a:r>
              <a:rPr lang="en-US" sz="2579" spc="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10. Endpoint risk profile assessments. ​</a:t>
            </a:r>
          </a:p>
          <a:p>
            <a:pPr algn="l">
              <a:lnSpc>
                <a:spcPts val="4850"/>
              </a:lnSpc>
            </a:pPr>
            <a:r>
              <a:rPr lang="en-US" sz="2579" spc="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Includes Insightz | Blackpanda IR-1 *Exclude Acronis EDR Licenses. **Excludes logs storage (Customer to store at their own logs container if required for compliance). ^Customer to assign a Point-Of-Contact​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2946992" y="3190895"/>
            <a:ext cx="384156" cy="384156"/>
          </a:xfrm>
          <a:custGeom>
            <a:avLst/>
            <a:gdLst/>
            <a:ahLst/>
            <a:cxnLst/>
            <a:rect l="l" t="t" r="r" b="b"/>
            <a:pathLst>
              <a:path w="384156" h="384156">
                <a:moveTo>
                  <a:pt x="0" y="0"/>
                </a:moveTo>
                <a:lnTo>
                  <a:pt x="384156" y="0"/>
                </a:lnTo>
                <a:lnTo>
                  <a:pt x="384156" y="384156"/>
                </a:lnTo>
                <a:lnTo>
                  <a:pt x="0" y="384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4" name="Group 4"/>
          <p:cNvGrpSpPr/>
          <p:nvPr/>
        </p:nvGrpSpPr>
        <p:grpSpPr>
          <a:xfrm>
            <a:off x="1108970" y="3077725"/>
            <a:ext cx="3898156" cy="5800808"/>
            <a:chOff x="0" y="0"/>
            <a:chExt cx="1075196" cy="15999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75196" cy="1599989"/>
            </a:xfrm>
            <a:custGeom>
              <a:avLst/>
              <a:gdLst/>
              <a:ahLst/>
              <a:cxnLst/>
              <a:rect l="l" t="t" r="r" b="b"/>
              <a:pathLst>
                <a:path w="1075196" h="1599989">
                  <a:moveTo>
                    <a:pt x="0" y="0"/>
                  </a:moveTo>
                  <a:lnTo>
                    <a:pt x="1075196" y="0"/>
                  </a:lnTo>
                  <a:lnTo>
                    <a:pt x="1075196" y="1599989"/>
                  </a:lnTo>
                  <a:lnTo>
                    <a:pt x="0" y="1599989"/>
                  </a:lnTo>
                  <a:close/>
                </a:path>
              </a:pathLst>
            </a:custGeom>
            <a:solidFill>
              <a:srgbClr val="19223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75196" cy="163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28364" y="3270849"/>
            <a:ext cx="384156" cy="384156"/>
          </a:xfrm>
          <a:custGeom>
            <a:avLst/>
            <a:gdLst/>
            <a:ahLst/>
            <a:cxnLst/>
            <a:rect l="l" t="t" r="r" b="b"/>
            <a:pathLst>
              <a:path w="384156" h="384156">
                <a:moveTo>
                  <a:pt x="0" y="0"/>
                </a:moveTo>
                <a:lnTo>
                  <a:pt x="384156" y="0"/>
                </a:lnTo>
                <a:lnTo>
                  <a:pt x="384156" y="384156"/>
                </a:lnTo>
                <a:lnTo>
                  <a:pt x="0" y="384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>
            <a:off x="7037460" y="3190895"/>
            <a:ext cx="384156" cy="384156"/>
          </a:xfrm>
          <a:custGeom>
            <a:avLst/>
            <a:gdLst/>
            <a:ahLst/>
            <a:cxnLst/>
            <a:rect l="l" t="t" r="r" b="b"/>
            <a:pathLst>
              <a:path w="384156" h="384156">
                <a:moveTo>
                  <a:pt x="0" y="0"/>
                </a:moveTo>
                <a:lnTo>
                  <a:pt x="384156" y="0"/>
                </a:lnTo>
                <a:lnTo>
                  <a:pt x="384156" y="384156"/>
                </a:lnTo>
                <a:lnTo>
                  <a:pt x="0" y="384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9" name="Group 9"/>
          <p:cNvGrpSpPr/>
          <p:nvPr/>
        </p:nvGrpSpPr>
        <p:grpSpPr>
          <a:xfrm>
            <a:off x="5264385" y="3077725"/>
            <a:ext cx="3898156" cy="5800808"/>
            <a:chOff x="0" y="0"/>
            <a:chExt cx="1075196" cy="15999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5196" cy="1599989"/>
            </a:xfrm>
            <a:custGeom>
              <a:avLst/>
              <a:gdLst/>
              <a:ahLst/>
              <a:cxnLst/>
              <a:rect l="l" t="t" r="r" b="b"/>
              <a:pathLst>
                <a:path w="1075196" h="1599989">
                  <a:moveTo>
                    <a:pt x="0" y="0"/>
                  </a:moveTo>
                  <a:lnTo>
                    <a:pt x="1075196" y="0"/>
                  </a:lnTo>
                  <a:lnTo>
                    <a:pt x="1075196" y="1599989"/>
                  </a:lnTo>
                  <a:lnTo>
                    <a:pt x="0" y="1599989"/>
                  </a:lnTo>
                  <a:close/>
                </a:path>
              </a:pathLst>
            </a:custGeom>
            <a:solidFill>
              <a:srgbClr val="19223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75196" cy="163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5483779" y="3270849"/>
            <a:ext cx="384156" cy="384156"/>
          </a:xfrm>
          <a:custGeom>
            <a:avLst/>
            <a:gdLst/>
            <a:ahLst/>
            <a:cxnLst/>
            <a:rect l="l" t="t" r="r" b="b"/>
            <a:pathLst>
              <a:path w="384156" h="384156">
                <a:moveTo>
                  <a:pt x="0" y="0"/>
                </a:moveTo>
                <a:lnTo>
                  <a:pt x="384156" y="0"/>
                </a:lnTo>
                <a:lnTo>
                  <a:pt x="384156" y="384156"/>
                </a:lnTo>
                <a:lnTo>
                  <a:pt x="0" y="384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3" name="Group 13"/>
          <p:cNvGrpSpPr/>
          <p:nvPr/>
        </p:nvGrpSpPr>
        <p:grpSpPr>
          <a:xfrm>
            <a:off x="9421638" y="3077725"/>
            <a:ext cx="3898156" cy="5800808"/>
            <a:chOff x="0" y="0"/>
            <a:chExt cx="1075196" cy="15999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5196" cy="1599989"/>
            </a:xfrm>
            <a:custGeom>
              <a:avLst/>
              <a:gdLst/>
              <a:ahLst/>
              <a:cxnLst/>
              <a:rect l="l" t="t" r="r" b="b"/>
              <a:pathLst>
                <a:path w="1075196" h="1599989">
                  <a:moveTo>
                    <a:pt x="0" y="0"/>
                  </a:moveTo>
                  <a:lnTo>
                    <a:pt x="1075196" y="0"/>
                  </a:lnTo>
                  <a:lnTo>
                    <a:pt x="1075196" y="1599989"/>
                  </a:lnTo>
                  <a:lnTo>
                    <a:pt x="0" y="1599989"/>
                  </a:lnTo>
                  <a:close/>
                </a:path>
              </a:pathLst>
            </a:custGeom>
            <a:solidFill>
              <a:srgbClr val="19223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75196" cy="163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9638259" y="3270849"/>
            <a:ext cx="384156" cy="384156"/>
          </a:xfrm>
          <a:custGeom>
            <a:avLst/>
            <a:gdLst/>
            <a:ahLst/>
            <a:cxnLst/>
            <a:rect l="l" t="t" r="r" b="b"/>
            <a:pathLst>
              <a:path w="384156" h="384156">
                <a:moveTo>
                  <a:pt x="0" y="0"/>
                </a:moveTo>
                <a:lnTo>
                  <a:pt x="384157" y="0"/>
                </a:lnTo>
                <a:lnTo>
                  <a:pt x="384157" y="384156"/>
                </a:lnTo>
                <a:lnTo>
                  <a:pt x="0" y="384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7" name="Group 17"/>
          <p:cNvGrpSpPr/>
          <p:nvPr/>
        </p:nvGrpSpPr>
        <p:grpSpPr>
          <a:xfrm>
            <a:off x="13578890" y="3077725"/>
            <a:ext cx="3898156" cy="5800808"/>
            <a:chOff x="0" y="0"/>
            <a:chExt cx="1075196" cy="159998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5196" cy="1599989"/>
            </a:xfrm>
            <a:custGeom>
              <a:avLst/>
              <a:gdLst/>
              <a:ahLst/>
              <a:cxnLst/>
              <a:rect l="l" t="t" r="r" b="b"/>
              <a:pathLst>
                <a:path w="1075196" h="1599989">
                  <a:moveTo>
                    <a:pt x="0" y="0"/>
                  </a:moveTo>
                  <a:lnTo>
                    <a:pt x="1075196" y="0"/>
                  </a:lnTo>
                  <a:lnTo>
                    <a:pt x="1075196" y="1599989"/>
                  </a:lnTo>
                  <a:lnTo>
                    <a:pt x="0" y="1599989"/>
                  </a:lnTo>
                  <a:close/>
                </a:path>
              </a:pathLst>
            </a:custGeom>
            <a:solidFill>
              <a:srgbClr val="19223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75196" cy="163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3795512" y="3270849"/>
            <a:ext cx="384156" cy="384156"/>
          </a:xfrm>
          <a:custGeom>
            <a:avLst/>
            <a:gdLst/>
            <a:ahLst/>
            <a:cxnLst/>
            <a:rect l="l" t="t" r="r" b="b"/>
            <a:pathLst>
              <a:path w="384156" h="384156">
                <a:moveTo>
                  <a:pt x="0" y="0"/>
                </a:moveTo>
                <a:lnTo>
                  <a:pt x="384156" y="0"/>
                </a:lnTo>
                <a:lnTo>
                  <a:pt x="384156" y="384156"/>
                </a:lnTo>
                <a:lnTo>
                  <a:pt x="0" y="384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1" name="Freeform 21"/>
          <p:cNvSpPr/>
          <p:nvPr/>
        </p:nvSpPr>
        <p:spPr>
          <a:xfrm>
            <a:off x="1839959" y="4242493"/>
            <a:ext cx="2214064" cy="2744591"/>
          </a:xfrm>
          <a:custGeom>
            <a:avLst/>
            <a:gdLst/>
            <a:ahLst/>
            <a:cxnLst/>
            <a:rect l="l" t="t" r="r" b="b"/>
            <a:pathLst>
              <a:path w="2214064" h="2744591">
                <a:moveTo>
                  <a:pt x="0" y="0"/>
                </a:moveTo>
                <a:lnTo>
                  <a:pt x="2214065" y="0"/>
                </a:lnTo>
                <a:lnTo>
                  <a:pt x="2214065" y="2744591"/>
                </a:lnTo>
                <a:lnTo>
                  <a:pt x="0" y="2744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2" name="Freeform 22"/>
          <p:cNvSpPr/>
          <p:nvPr/>
        </p:nvSpPr>
        <p:spPr>
          <a:xfrm>
            <a:off x="5673085" y="4178129"/>
            <a:ext cx="3196541" cy="2512836"/>
          </a:xfrm>
          <a:custGeom>
            <a:avLst/>
            <a:gdLst/>
            <a:ahLst/>
            <a:cxnLst/>
            <a:rect l="l" t="t" r="r" b="b"/>
            <a:pathLst>
              <a:path w="3196541" h="2512836">
                <a:moveTo>
                  <a:pt x="0" y="0"/>
                </a:moveTo>
                <a:lnTo>
                  <a:pt x="3196540" y="0"/>
                </a:lnTo>
                <a:lnTo>
                  <a:pt x="3196540" y="2512837"/>
                </a:lnTo>
                <a:lnTo>
                  <a:pt x="0" y="2512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3" name="Freeform 23"/>
          <p:cNvSpPr/>
          <p:nvPr/>
        </p:nvSpPr>
        <p:spPr>
          <a:xfrm>
            <a:off x="9906963" y="4178129"/>
            <a:ext cx="2927504" cy="3256632"/>
          </a:xfrm>
          <a:custGeom>
            <a:avLst/>
            <a:gdLst/>
            <a:ahLst/>
            <a:cxnLst/>
            <a:rect l="l" t="t" r="r" b="b"/>
            <a:pathLst>
              <a:path w="2927504" h="3256632">
                <a:moveTo>
                  <a:pt x="0" y="0"/>
                </a:moveTo>
                <a:lnTo>
                  <a:pt x="2927505" y="0"/>
                </a:lnTo>
                <a:lnTo>
                  <a:pt x="2927505" y="3256632"/>
                </a:lnTo>
                <a:lnTo>
                  <a:pt x="0" y="32566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4" name="Freeform 24"/>
          <p:cNvSpPr/>
          <p:nvPr/>
        </p:nvSpPr>
        <p:spPr>
          <a:xfrm>
            <a:off x="14378016" y="3699356"/>
            <a:ext cx="2299904" cy="2804400"/>
          </a:xfrm>
          <a:custGeom>
            <a:avLst/>
            <a:gdLst/>
            <a:ahLst/>
            <a:cxnLst/>
            <a:rect l="l" t="t" r="r" b="b"/>
            <a:pathLst>
              <a:path w="2299904" h="2804400">
                <a:moveTo>
                  <a:pt x="0" y="0"/>
                </a:moveTo>
                <a:lnTo>
                  <a:pt x="2299904" y="0"/>
                </a:lnTo>
                <a:lnTo>
                  <a:pt x="2299904" y="2804399"/>
                </a:lnTo>
                <a:lnTo>
                  <a:pt x="0" y="28043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5" name="TextBox 25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5588" y="1642084"/>
            <a:ext cx="16228074" cy="959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1"/>
              </a:lnSpc>
            </a:pPr>
            <a:r>
              <a:rPr lang="en-US" sz="5985" spc="2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TYPES OF REPORTS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07770" y="3223224"/>
            <a:ext cx="2499082" cy="77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  <a:spcBef>
                <a:spcPct val="0"/>
              </a:spcBef>
            </a:pPr>
            <a:r>
              <a:rPr lang="en-US" sz="2247" b="1" spc="-125">
                <a:solidFill>
                  <a:srgbClr val="30A0E8"/>
                </a:solidFill>
                <a:latin typeface="Exo 2 2 Bold"/>
                <a:ea typeface="Exo 2 2 Bold"/>
                <a:cs typeface="Exo 2 2 Bold"/>
                <a:sym typeface="Exo 2 2 Bold"/>
              </a:rPr>
              <a:t>MONTHLY SERVICE REPORT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4855" y="7160574"/>
            <a:ext cx="3464912" cy="144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4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will provide you with monthly reporting of metrics and context surrounding analysis activities, technology health and event summaries.​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81007" y="6804532"/>
            <a:ext cx="3464912" cy="173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4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will provide reports on persistent malware, unusual processes, and C&amp;C communications. This will include any malware threat intelligence from InsightzMDR predictive engine.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963185" y="3223224"/>
            <a:ext cx="2514873" cy="77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  <a:spcBef>
                <a:spcPct val="0"/>
              </a:spcBef>
            </a:pPr>
            <a:r>
              <a:rPr lang="en-US" sz="2247" b="1" spc="-125">
                <a:solidFill>
                  <a:srgbClr val="30A0E8"/>
                </a:solidFill>
                <a:latin typeface="Exo 2 2 Bold"/>
                <a:ea typeface="Exo 2 2 Bold"/>
                <a:cs typeface="Exo 2 2 Bold"/>
                <a:sym typeface="Exo 2 2 Bold"/>
              </a:rPr>
              <a:t>THREAT HUNT FINDING REPORTS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38259" y="7606416"/>
            <a:ext cx="3464912" cy="86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4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will develop custom rules as required, to scan the network and perform required preventive action.​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120438" y="3223224"/>
            <a:ext cx="2982733" cy="77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246" b="1" spc="-125">
                <a:solidFill>
                  <a:srgbClr val="30A0E8"/>
                </a:solidFill>
                <a:latin typeface="Exo 2 2 Bold"/>
                <a:ea typeface="Exo 2 2 Bold"/>
                <a:cs typeface="Exo 2 2 Bold"/>
                <a:sym typeface="Exo 2 2 Bold"/>
              </a:rPr>
              <a:t>THREAT INTEL </a:t>
            </a:r>
          </a:p>
          <a:p>
            <a:pPr algn="l">
              <a:lnSpc>
                <a:spcPts val="3144"/>
              </a:lnSpc>
              <a:spcBef>
                <a:spcPct val="0"/>
              </a:spcBef>
            </a:pPr>
            <a:r>
              <a:rPr lang="en-US" sz="2246" b="1" spc="-125">
                <a:solidFill>
                  <a:srgbClr val="30A0E8"/>
                </a:solidFill>
                <a:latin typeface="Exo 2 2 Bold"/>
                <a:ea typeface="Exo 2 2 Bold"/>
                <a:cs typeface="Exo 2 2 Bold"/>
                <a:sym typeface="Exo 2 2 Bold"/>
              </a:rPr>
              <a:t>REPORTS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781662" y="6624291"/>
            <a:ext cx="3464912" cy="203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4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will provide a daily status update on corrective actions and detail any new findings or recommendations. A final report will detail all incidents, supported by evidence and recommendations to eliminate threat.​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277691" y="3223224"/>
            <a:ext cx="2804634" cy="381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  <a:spcBef>
                <a:spcPct val="0"/>
              </a:spcBef>
            </a:pPr>
            <a:r>
              <a:rPr lang="en-US" sz="2246" b="1" spc="-125">
                <a:solidFill>
                  <a:srgbClr val="30A0E8"/>
                </a:solidFill>
                <a:latin typeface="Exo 2 2 Bold"/>
                <a:ea typeface="Exo 2 2 Bold"/>
                <a:cs typeface="Exo 2 2 Bold"/>
                <a:sym typeface="Exo 2 2 Bold"/>
              </a:rPr>
              <a:t>INCIDENT REPORTS</a:t>
            </a:r>
          </a:p>
        </p:txBody>
      </p:sp>
      <p:sp>
        <p:nvSpPr>
          <p:cNvPr id="35" name="Freeform 35"/>
          <p:cNvSpPr/>
          <p:nvPr/>
        </p:nvSpPr>
        <p:spPr>
          <a:xfrm>
            <a:off x="149668" y="192948"/>
            <a:ext cx="1211840" cy="835752"/>
          </a:xfrm>
          <a:custGeom>
            <a:avLst/>
            <a:gdLst/>
            <a:ahLst/>
            <a:cxnLst/>
            <a:rect l="l" t="t" r="r" b="b"/>
            <a:pathLst>
              <a:path w="1211840" h="835752">
                <a:moveTo>
                  <a:pt x="0" y="0"/>
                </a:moveTo>
                <a:lnTo>
                  <a:pt x="1211840" y="0"/>
                </a:lnTo>
                <a:lnTo>
                  <a:pt x="1211840" y="835752"/>
                </a:lnTo>
                <a:lnTo>
                  <a:pt x="0" y="8357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9163" y="1332584"/>
            <a:ext cx="14303682" cy="841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</a:pPr>
            <a:r>
              <a:rPr lang="en-US" sz="5276" spc="263">
                <a:solidFill>
                  <a:srgbClr val="EC780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 DO </a:t>
            </a:r>
            <a:r>
              <a:rPr lang="en-US" sz="5276" spc="26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VS WHAT YOU DO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6645" y="3386987"/>
            <a:ext cx="6642863" cy="245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4"/>
              </a:lnSpc>
            </a:pPr>
            <a:r>
              <a:rPr lang="en-US" sz="234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• 24/7 monitoring and alert triage ​</a:t>
            </a:r>
          </a:p>
          <a:p>
            <a:pPr algn="l">
              <a:lnSpc>
                <a:spcPts val="3924"/>
              </a:lnSpc>
            </a:pPr>
            <a:r>
              <a:rPr lang="en-US" sz="234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• Threat analysis and investigation ​</a:t>
            </a:r>
          </a:p>
          <a:p>
            <a:pPr algn="l">
              <a:lnSpc>
                <a:spcPts val="3924"/>
              </a:lnSpc>
            </a:pPr>
            <a:r>
              <a:rPr lang="en-US" sz="234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• Incident response actions (as agreed) ​</a:t>
            </a:r>
          </a:p>
          <a:p>
            <a:pPr algn="l">
              <a:lnSpc>
                <a:spcPts val="3924"/>
              </a:lnSpc>
            </a:pPr>
            <a:r>
              <a:rPr lang="en-US" sz="234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• Security reporting and recommendations</a:t>
            </a:r>
          </a:p>
          <a:p>
            <a:pPr algn="l">
              <a:lnSpc>
                <a:spcPts val="3924"/>
              </a:lnSpc>
            </a:pPr>
            <a:endParaRPr lang="en-US" sz="2349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" name="Freeform 6"/>
          <p:cNvSpPr/>
          <p:nvPr/>
        </p:nvSpPr>
        <p:spPr>
          <a:xfrm flipH="1">
            <a:off x="-2882133" y="2612479"/>
            <a:ext cx="10840525" cy="625283"/>
          </a:xfrm>
          <a:custGeom>
            <a:avLst/>
            <a:gdLst/>
            <a:ahLst/>
            <a:cxnLst/>
            <a:rect l="l" t="t" r="r" b="b"/>
            <a:pathLst>
              <a:path w="10840525" h="625283">
                <a:moveTo>
                  <a:pt x="10840525" y="0"/>
                </a:moveTo>
                <a:lnTo>
                  <a:pt x="0" y="0"/>
                </a:lnTo>
                <a:lnTo>
                  <a:pt x="0" y="625283"/>
                </a:lnTo>
                <a:lnTo>
                  <a:pt x="10840525" y="625283"/>
                </a:lnTo>
                <a:lnTo>
                  <a:pt x="10840525" y="0"/>
                </a:lnTo>
                <a:close/>
              </a:path>
            </a:pathLst>
          </a:custGeom>
          <a:blipFill>
            <a:blip r:embed="rId3"/>
            <a:stretch>
              <a:fillRect t="-72442" b="-72442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TextBox 7"/>
          <p:cNvSpPr txBox="1"/>
          <p:nvPr/>
        </p:nvSpPr>
        <p:spPr>
          <a:xfrm>
            <a:off x="1412006" y="2713690"/>
            <a:ext cx="10010532" cy="47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3409" b="1" spc="170">
                <a:solidFill>
                  <a:srgbClr val="FFFFFF"/>
                </a:solidFill>
                <a:latin typeface="Exo 2 1 Bold"/>
                <a:ea typeface="Exo 2 1 Bold"/>
                <a:cs typeface="Exo 2 1 Bold"/>
                <a:sym typeface="Exo 2 1 Bold"/>
              </a:rPr>
              <a:t>WHAT WE HANDLE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6645" y="7028081"/>
            <a:ext cx="7155782" cy="2450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353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• System access approvals ​</a:t>
            </a:r>
          </a:p>
          <a:p>
            <a:pPr algn="l">
              <a:lnSpc>
                <a:spcPts val="3929"/>
              </a:lnSpc>
            </a:pPr>
            <a:r>
              <a:rPr lang="en-US" sz="2353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• Key contacts for escalation ​</a:t>
            </a:r>
          </a:p>
          <a:p>
            <a:pPr algn="l">
              <a:lnSpc>
                <a:spcPts val="3929"/>
              </a:lnSpc>
            </a:pPr>
            <a:r>
              <a:rPr lang="en-US" sz="2353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• Business context for critical systems ​</a:t>
            </a:r>
          </a:p>
          <a:p>
            <a:pPr algn="l">
              <a:lnSpc>
                <a:spcPts val="3929"/>
              </a:lnSpc>
            </a:pPr>
            <a:r>
              <a:rPr lang="en-US" sz="2353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• Approval for response actions (if required)</a:t>
            </a:r>
          </a:p>
          <a:p>
            <a:pPr algn="l">
              <a:lnSpc>
                <a:spcPts val="3929"/>
              </a:lnSpc>
            </a:pPr>
            <a:endParaRPr lang="en-US" sz="2353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410446" y="4590631"/>
            <a:ext cx="7397350" cy="3163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4"/>
              </a:lnSpc>
            </a:pPr>
            <a:r>
              <a:rPr lang="en-US" sz="253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1. Environment review &amp; scope confirmation ​</a:t>
            </a:r>
          </a:p>
          <a:p>
            <a:pPr algn="l">
              <a:lnSpc>
                <a:spcPts val="4234"/>
              </a:lnSpc>
            </a:pPr>
            <a:r>
              <a:rPr lang="en-US" sz="253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2. Agent deployment / integrations ​</a:t>
            </a:r>
          </a:p>
          <a:p>
            <a:pPr algn="l">
              <a:lnSpc>
                <a:spcPts val="4234"/>
              </a:lnSpc>
            </a:pPr>
            <a:r>
              <a:rPr lang="en-US" sz="253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3. Baseline &amp; tuning period ​</a:t>
            </a:r>
          </a:p>
          <a:p>
            <a:pPr algn="l">
              <a:lnSpc>
                <a:spcPts val="4234"/>
              </a:lnSpc>
            </a:pPr>
            <a:r>
              <a:rPr lang="en-US" sz="253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4. Go-live with full MDR coverage ​</a:t>
            </a:r>
          </a:p>
          <a:p>
            <a:pPr algn="l">
              <a:lnSpc>
                <a:spcPts val="4234"/>
              </a:lnSpc>
            </a:pPr>
            <a:r>
              <a:rPr lang="en-US" sz="253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5. Ongoing monitoring &amp; reporting </a:t>
            </a:r>
          </a:p>
          <a:p>
            <a:pPr algn="l">
              <a:lnSpc>
                <a:spcPts val="4234"/>
              </a:lnSpc>
            </a:pPr>
            <a:endParaRPr lang="en-US" sz="2535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" name="Freeform 10"/>
          <p:cNvSpPr/>
          <p:nvPr/>
        </p:nvSpPr>
        <p:spPr>
          <a:xfrm flipH="1">
            <a:off x="-1364669" y="6305867"/>
            <a:ext cx="10840525" cy="625283"/>
          </a:xfrm>
          <a:custGeom>
            <a:avLst/>
            <a:gdLst/>
            <a:ahLst/>
            <a:cxnLst/>
            <a:rect l="l" t="t" r="r" b="b"/>
            <a:pathLst>
              <a:path w="10840525" h="625283">
                <a:moveTo>
                  <a:pt x="10840526" y="0"/>
                </a:moveTo>
                <a:lnTo>
                  <a:pt x="0" y="0"/>
                </a:lnTo>
                <a:lnTo>
                  <a:pt x="0" y="625282"/>
                </a:lnTo>
                <a:lnTo>
                  <a:pt x="10840526" y="625282"/>
                </a:lnTo>
                <a:lnTo>
                  <a:pt x="10840526" y="0"/>
                </a:lnTo>
                <a:close/>
              </a:path>
            </a:pathLst>
          </a:custGeom>
          <a:blipFill>
            <a:blip r:embed="rId3"/>
            <a:stretch>
              <a:fillRect t="-72442" b="-72442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1"/>
          <p:cNvSpPr txBox="1"/>
          <p:nvPr/>
        </p:nvSpPr>
        <p:spPr>
          <a:xfrm>
            <a:off x="1315529" y="6375024"/>
            <a:ext cx="10010532" cy="448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3251" b="1" spc="162">
                <a:solidFill>
                  <a:srgbClr val="FFFFFF"/>
                </a:solidFill>
                <a:latin typeface="Exo 2 1 Bold"/>
                <a:ea typeface="Exo 2 1 Bold"/>
                <a:cs typeface="Exo 2 1 Bold"/>
                <a:sym typeface="Exo 2 1 Bold"/>
              </a:rPr>
              <a:t>CUSTOMER PROVIDES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8654903" y="3501287"/>
            <a:ext cx="13232420" cy="763247"/>
          </a:xfrm>
          <a:custGeom>
            <a:avLst/>
            <a:gdLst/>
            <a:ahLst/>
            <a:cxnLst/>
            <a:rect l="l" t="t" r="r" b="b"/>
            <a:pathLst>
              <a:path w="13232420" h="763247">
                <a:moveTo>
                  <a:pt x="0" y="0"/>
                </a:moveTo>
                <a:lnTo>
                  <a:pt x="13232419" y="0"/>
                </a:lnTo>
                <a:lnTo>
                  <a:pt x="13232419" y="763248"/>
                </a:lnTo>
                <a:lnTo>
                  <a:pt x="0" y="7632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2442" b="-72442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3" name="TextBox 13"/>
          <p:cNvSpPr txBox="1"/>
          <p:nvPr/>
        </p:nvSpPr>
        <p:spPr>
          <a:xfrm>
            <a:off x="9776054" y="3688170"/>
            <a:ext cx="9343533" cy="437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8"/>
              </a:lnSpc>
            </a:pPr>
            <a:r>
              <a:rPr lang="en-US" sz="3221" b="1" spc="161">
                <a:solidFill>
                  <a:srgbClr val="FFFFFF"/>
                </a:solidFill>
                <a:latin typeface="Exo 2 1 Bold"/>
                <a:ea typeface="Exo 2 1 Bold"/>
                <a:cs typeface="Exo 2 1 Bold"/>
                <a:sym typeface="Exo 2 1 Bold"/>
              </a:rPr>
              <a:t>WHAT HAPPENS NEXT</a:t>
            </a:r>
          </a:p>
        </p:txBody>
      </p:sp>
      <p:sp>
        <p:nvSpPr>
          <p:cNvPr id="14" name="Freeform 14"/>
          <p:cNvSpPr/>
          <p:nvPr/>
        </p:nvSpPr>
        <p:spPr>
          <a:xfrm>
            <a:off x="149668" y="192948"/>
            <a:ext cx="1211840" cy="835752"/>
          </a:xfrm>
          <a:custGeom>
            <a:avLst/>
            <a:gdLst/>
            <a:ahLst/>
            <a:cxnLst/>
            <a:rect l="l" t="t" r="r" b="b"/>
            <a:pathLst>
              <a:path w="1211840" h="835752">
                <a:moveTo>
                  <a:pt x="0" y="0"/>
                </a:moveTo>
                <a:lnTo>
                  <a:pt x="1211840" y="0"/>
                </a:lnTo>
                <a:lnTo>
                  <a:pt x="1211840" y="835752"/>
                </a:lnTo>
                <a:lnTo>
                  <a:pt x="0" y="835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205533"/>
              </p:ext>
            </p:extLst>
          </p:nvPr>
        </p:nvGraphicFramePr>
        <p:xfrm>
          <a:off x="1491483" y="3490319"/>
          <a:ext cx="15305034" cy="5633871"/>
        </p:xfrm>
        <a:graphic>
          <a:graphicData uri="http://schemas.openxmlformats.org/drawingml/2006/table">
            <a:tbl>
              <a:tblPr/>
              <a:tblGrid>
                <a:gridCol w="5101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1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1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1935"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FFFFFD"/>
                          </a:solidFill>
                          <a:latin typeface="Exo 2 1 Bold"/>
                          <a:ea typeface="Exo 2 1 Bold"/>
                          <a:cs typeface="Exo 2 1 Bold"/>
                          <a:sym typeface="Exo 2 1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D"/>
                          </a:solidFill>
                          <a:latin typeface="Exo 2 1 Bold"/>
                          <a:ea typeface="Exo 2 1 Bold"/>
                          <a:cs typeface="Exo 2 1 Bold"/>
                          <a:sym typeface="Exo 2 1 Bold"/>
                        </a:rPr>
                        <a:t>PERSON IN CHARGE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D"/>
                          </a:solidFill>
                          <a:latin typeface="Exo 2 1 Bold"/>
                          <a:ea typeface="Exo 2 1 Bold"/>
                          <a:cs typeface="Exo 2 1 Bold"/>
                          <a:sym typeface="Exo 2 1 Bold"/>
                        </a:rPr>
                        <a:t>EMAIL ADDRESS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0484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FFFFF"/>
                          </a:solidFill>
                          <a:latin typeface="Exo 2 1"/>
                          <a:ea typeface="Exo 2 1"/>
                          <a:cs typeface="Exo 2 1"/>
                          <a:sym typeface="Exo 2 1"/>
                        </a:rPr>
                        <a:t>POINT OF CONTACT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Exo 2 1"/>
                          <a:ea typeface="Exo 2 1"/>
                          <a:cs typeface="Exo 2 1"/>
                          <a:sym typeface="Exo 2 1"/>
                        </a:rPr>
                        <a:t>CUSTOMER ADVISOR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ca@insightz.tech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484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Exo 2 1"/>
                          <a:ea typeface="Exo 2 1"/>
                          <a:cs typeface="Exo 2 1"/>
                          <a:sym typeface="Exo 2 1"/>
                        </a:rPr>
                        <a:t>ONBOARDING TEAM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Exo 2 1"/>
                          <a:ea typeface="Exo 2 1"/>
                          <a:cs typeface="Exo 2 1"/>
                          <a:sym typeface="Exo 2 1"/>
                        </a:rPr>
                        <a:t>MSP TEAM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msp@insightz.tech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0484">
                <a:tc>
                  <a:txBody>
                    <a:bodyPr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Exo 2 1"/>
                          <a:ea typeface="Exo 2 1"/>
                          <a:cs typeface="Exo 2 1"/>
                          <a:sym typeface="Exo 2 1"/>
                        </a:rPr>
                        <a:t>CHIEF TECHNOLOGY OFFICER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Exo 2 1"/>
                          <a:ea typeface="Exo 2 1"/>
                          <a:cs typeface="Exo 2 1"/>
                          <a:sym typeface="Exo 2 1"/>
                        </a:rPr>
                        <a:t>THIRUPPATHI MUTHIAH PITCHAI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muthiah@insightz.tech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0484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Exo 2 1"/>
                          <a:ea typeface="Exo 2 1"/>
                          <a:cs typeface="Exo 2 1"/>
                          <a:sym typeface="Exo 2 1"/>
                        </a:rPr>
                        <a:t>CHIEF EXECUTIVE OFFICER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Exo 2 1"/>
                          <a:ea typeface="Exo 2 1"/>
                          <a:cs typeface="Exo 2 1"/>
                          <a:sym typeface="Exo 2 1"/>
                        </a:rPr>
                        <a:t>LIONEL LOH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lst@insightz.tech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5588" y="1140546"/>
            <a:ext cx="7750390" cy="200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</a:pPr>
            <a:r>
              <a:rPr lang="en-US" sz="5276" spc="26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INSIGHTZ DISTRIBUTION LIST</a:t>
            </a:r>
          </a:p>
          <a:p>
            <a:pPr algn="l">
              <a:lnSpc>
                <a:spcPts val="2273"/>
              </a:lnSpc>
            </a:pPr>
            <a:r>
              <a:rPr lang="en-US" sz="1776" spc="88">
                <a:solidFill>
                  <a:srgbClr val="EC780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INSIGHTZ POCS</a:t>
            </a:r>
          </a:p>
        </p:txBody>
      </p:sp>
      <p:sp>
        <p:nvSpPr>
          <p:cNvPr id="6" name="Freeform 6"/>
          <p:cNvSpPr/>
          <p:nvPr/>
        </p:nvSpPr>
        <p:spPr>
          <a:xfrm>
            <a:off x="149668" y="192948"/>
            <a:ext cx="1211840" cy="835752"/>
          </a:xfrm>
          <a:custGeom>
            <a:avLst/>
            <a:gdLst/>
            <a:ahLst/>
            <a:cxnLst/>
            <a:rect l="l" t="t" r="r" b="b"/>
            <a:pathLst>
              <a:path w="1211840" h="835752">
                <a:moveTo>
                  <a:pt x="0" y="0"/>
                </a:moveTo>
                <a:lnTo>
                  <a:pt x="1211840" y="0"/>
                </a:lnTo>
                <a:lnTo>
                  <a:pt x="1211840" y="835752"/>
                </a:lnTo>
                <a:lnTo>
                  <a:pt x="0" y="835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91287">
                <a:alpha val="100000"/>
              </a:srgbClr>
            </a:gs>
            <a:gs pos="100000">
              <a:srgbClr val="06027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397280" cy="5101572"/>
          </a:xfrm>
          <a:custGeom>
            <a:avLst/>
            <a:gdLst/>
            <a:ahLst/>
            <a:cxnLst/>
            <a:rect l="l" t="t" r="r" b="b"/>
            <a:pathLst>
              <a:path w="7397280" h="5101572">
                <a:moveTo>
                  <a:pt x="0" y="0"/>
                </a:moveTo>
                <a:lnTo>
                  <a:pt x="7397280" y="0"/>
                </a:lnTo>
                <a:lnTo>
                  <a:pt x="7397280" y="5101572"/>
                </a:lnTo>
                <a:lnTo>
                  <a:pt x="0" y="510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8905008" y="1028700"/>
            <a:ext cx="12732210" cy="13873835"/>
          </a:xfrm>
          <a:custGeom>
            <a:avLst/>
            <a:gdLst/>
            <a:ahLst/>
            <a:cxnLst/>
            <a:rect l="l" t="t" r="r" b="b"/>
            <a:pathLst>
              <a:path w="12732210" h="13873835">
                <a:moveTo>
                  <a:pt x="0" y="0"/>
                </a:moveTo>
                <a:lnTo>
                  <a:pt x="12732210" y="0"/>
                </a:lnTo>
                <a:lnTo>
                  <a:pt x="12732210" y="13873835"/>
                </a:lnTo>
                <a:lnTo>
                  <a:pt x="0" y="13873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5239" t="-10989" r="-14938" b="-847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12370967" y="9849236"/>
            <a:ext cx="58002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Exo 2 1"/>
                <a:ea typeface="Exo 2 1"/>
                <a:cs typeface="Exo 2 1"/>
                <a:sym typeface="Exo 2 1"/>
              </a:rPr>
              <a:t>Confidential © Insightz Technology 2025 All rights reserved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447146" y="9145103"/>
            <a:ext cx="2398307" cy="856534"/>
            <a:chOff x="0" y="0"/>
            <a:chExt cx="3197743" cy="114204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667927"/>
              <a:ext cx="248170" cy="248170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F6FC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43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51773" y="718141"/>
              <a:ext cx="147741" cy="147741"/>
            </a:xfrm>
            <a:custGeom>
              <a:avLst/>
              <a:gdLst/>
              <a:ahLst/>
              <a:cxnLst/>
              <a:rect l="l" t="t" r="r" b="b"/>
              <a:pathLst>
                <a:path w="147741" h="147741">
                  <a:moveTo>
                    <a:pt x="0" y="0"/>
                  </a:moveTo>
                  <a:lnTo>
                    <a:pt x="147741" y="0"/>
                  </a:lnTo>
                  <a:lnTo>
                    <a:pt x="147741" y="147741"/>
                  </a:lnTo>
                  <a:lnTo>
                    <a:pt x="0" y="147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8170" y="639352"/>
              <a:ext cx="2924208" cy="502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5"/>
                </a:lnSpc>
              </a:pPr>
              <a:r>
                <a:rPr lang="en-US" sz="1089">
                  <a:solidFill>
                    <a:srgbClr val="FFFFFF">
                      <a:alpha val="70980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https//insightztechnology.com</a:t>
              </a:r>
            </a:p>
            <a:p>
              <a:pPr algn="ctr">
                <a:lnSpc>
                  <a:spcPts val="1525"/>
                </a:lnSpc>
              </a:pPr>
              <a:endParaRPr lang="en-US" sz="1089">
                <a:solidFill>
                  <a:srgbClr val="FFFFFF">
                    <a:alpha val="70980"/>
                  </a:srgbClr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282005" y="0"/>
              <a:ext cx="253262" cy="253262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F6FC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7050" tIns="7050" rIns="7050" bIns="7050" rtlCol="0" anchor="ctr"/>
              <a:lstStyle/>
              <a:p>
                <a:pPr algn="ctr">
                  <a:lnSpc>
                    <a:spcPts val="164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327801" y="45796"/>
              <a:ext cx="161671" cy="161671"/>
            </a:xfrm>
            <a:custGeom>
              <a:avLst/>
              <a:gdLst/>
              <a:ahLst/>
              <a:cxnLst/>
              <a:rect l="l" t="t" r="r" b="b"/>
              <a:pathLst>
                <a:path w="161671" h="161671">
                  <a:moveTo>
                    <a:pt x="0" y="0"/>
                  </a:moveTo>
                  <a:lnTo>
                    <a:pt x="161671" y="0"/>
                  </a:lnTo>
                  <a:lnTo>
                    <a:pt x="161671" y="161670"/>
                  </a:lnTo>
                  <a:lnTo>
                    <a:pt x="0" y="161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85920" y="-12372"/>
              <a:ext cx="1373933" cy="247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5"/>
                </a:lnSpc>
              </a:pPr>
              <a:r>
                <a:rPr lang="en-US" sz="1089" u="sng">
                  <a:solidFill>
                    <a:srgbClr val="FFFFFF">
                      <a:alpha val="77647"/>
                    </a:srgbClr>
                  </a:solidFill>
                  <a:latin typeface="Roboto"/>
                  <a:ea typeface="Roboto"/>
                  <a:cs typeface="Roboto"/>
                  <a:sym typeface="Roboto"/>
                  <a:hlinkClick r:id="rId8" tooltip="tel:+6561000848"/>
                </a:rPr>
                <a:t>+65 61000 848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897448" y="327787"/>
              <a:ext cx="265616" cy="265616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F6FC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6172" tIns="6172" rIns="6172" bIns="6172" rtlCol="0" anchor="ctr"/>
              <a:lstStyle/>
              <a:p>
                <a:pPr algn="ctr">
                  <a:lnSpc>
                    <a:spcPts val="1643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947388" y="411868"/>
              <a:ext cx="165735" cy="111457"/>
            </a:xfrm>
            <a:custGeom>
              <a:avLst/>
              <a:gdLst/>
              <a:ahLst/>
              <a:cxnLst/>
              <a:rect l="l" t="t" r="r" b="b"/>
              <a:pathLst>
                <a:path w="165735" h="111457">
                  <a:moveTo>
                    <a:pt x="0" y="0"/>
                  </a:moveTo>
                  <a:lnTo>
                    <a:pt x="165735" y="0"/>
                  </a:lnTo>
                  <a:lnTo>
                    <a:pt x="165735" y="111456"/>
                  </a:lnTo>
                  <a:lnTo>
                    <a:pt x="0" y="111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0256" y="299212"/>
              <a:ext cx="2167487" cy="247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5"/>
                </a:lnSpc>
              </a:pPr>
              <a:r>
                <a:rPr lang="en-US" sz="1089" u="sng">
                  <a:solidFill>
                    <a:srgbClr val="FFFFFF">
                      <a:alpha val="81961"/>
                    </a:srgbClr>
                  </a:solidFill>
                  <a:latin typeface="Roboto"/>
                  <a:ea typeface="Roboto"/>
                  <a:cs typeface="Roboto"/>
                  <a:sym typeface="Roboto"/>
                  <a:hlinkClick r:id="rId11" tooltip="mailto:sales@insightz.tech"/>
                </a:rPr>
                <a:t>sales@insightz.tech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272191" y="5124450"/>
            <a:ext cx="715378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Box 22"/>
          <p:cNvSpPr txBox="1"/>
          <p:nvPr/>
        </p:nvSpPr>
        <p:spPr>
          <a:xfrm>
            <a:off x="1366662" y="5443371"/>
            <a:ext cx="14303682" cy="841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</a:pPr>
            <a:r>
              <a:rPr lang="en-US" sz="5276" spc="263">
                <a:solidFill>
                  <a:srgbClr val="30A0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YOU!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65314" y="6304166"/>
            <a:ext cx="9882594" cy="45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698" spc="84">
                <a:solidFill>
                  <a:srgbClr val="F4F6FC"/>
                </a:solidFill>
                <a:latin typeface="Exo 2 1"/>
                <a:ea typeface="Exo 2 1"/>
                <a:cs typeface="Exo 2 1"/>
                <a:sym typeface="Exo 2 1"/>
              </a:rPr>
              <a:t>www.insightz.tech</a:t>
            </a:r>
          </a:p>
          <a:p>
            <a:pPr algn="l">
              <a:lnSpc>
                <a:spcPts val="1749"/>
              </a:lnSpc>
            </a:pPr>
            <a:r>
              <a:rPr lang="en-US" sz="1698" spc="84">
                <a:solidFill>
                  <a:srgbClr val="F4F6FC"/>
                </a:solidFill>
                <a:latin typeface="Exo 2 1"/>
                <a:ea typeface="Exo 2 1"/>
                <a:cs typeface="Exo 2 1"/>
                <a:sym typeface="Exo 2 1"/>
              </a:rPr>
              <a:t>ca@insightz.tech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1247</Words>
  <Application>Microsoft Office PowerPoint</Application>
  <PresentationFormat>Custom</PresentationFormat>
  <Paragraphs>177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Roboto</vt:lpstr>
      <vt:lpstr>PT Sans</vt:lpstr>
      <vt:lpstr>Calibri</vt:lpstr>
      <vt:lpstr>Poppins</vt:lpstr>
      <vt:lpstr>Arial</vt:lpstr>
      <vt:lpstr>Exo 2 1 Bold</vt:lpstr>
      <vt:lpstr>Exo 2 1</vt:lpstr>
      <vt:lpstr>League Spartan</vt:lpstr>
      <vt:lpstr>Exo 2 2 Bold</vt:lpstr>
      <vt:lpstr>Barlow Bold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INSZ MDR KICK OFF v2</dc:title>
  <cp:lastModifiedBy>Kevin Bitonio</cp:lastModifiedBy>
  <cp:revision>3</cp:revision>
  <dcterms:created xsi:type="dcterms:W3CDTF">2006-08-16T00:00:00Z</dcterms:created>
  <dcterms:modified xsi:type="dcterms:W3CDTF">2026-01-08T07:55:40Z</dcterms:modified>
  <dc:identifier>DAG79ULx_pw</dc:identifier>
</cp:coreProperties>
</file>